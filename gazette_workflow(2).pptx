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9" d="100"/>
          <a:sy n="79" d="100"/>
        </p:scale>
        <p:origin x="74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5916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 les données avancent en bleu, de la presse à l'édition publiée sur GitHub Pages. La collecte et le stockage brut tournent toutes les heures (un flux RSS ne garde que ses derniers articles). Nettoyage, thèmes et livraison tournent une fois par jour vers 5 h 30. Stockage en médaillon : Bronze (JSONL), Silver et Gold (PostgreSQL). Chaque run de thèmes est tracé avec MLflow. En vert, toutes les étapes alimentent les logs et Prometheus. Healthchecks.io (le watchdog : il attend un signal de fin) et UptimeRobot (le health check : il va vérifier la page) sont externes et alertent Discord directement, sans passer par Alertmanager, pour qu'une panne de la machine ne les rende pas muets. Alertmanager ne garde que les alertes de Prometheus : source vide, étape trop lente, trop d'articles écartés. Le socle GitHub : dépôt et CI à chaque commit, Terraform au TD 9.</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01168"/>
            <a:ext cx="11274552" cy="566928"/>
          </a:xfrm>
          <a:prstGeom prst="rect">
            <a:avLst/>
          </a:prstGeom>
          <a:noFill/>
          <a:ln/>
        </p:spPr>
        <p:txBody>
          <a:bodyPr wrap="square" lIns="0" tIns="0" rIns="0" bIns="0" rtlCol="0" anchor="ctr"/>
          <a:lstStyle/>
          <a:p>
            <a:pPr marL="0" indent="0">
              <a:buNone/>
            </a:pPr>
            <a:r>
              <a:rPr lang="en-US" sz="3600" b="1" dirty="0">
                <a:solidFill>
                  <a:srgbClr val="1B2A49"/>
                </a:solidFill>
                <a:latin typeface="Cambria" pitchFamily="34" charset="0"/>
                <a:ea typeface="Cambria" pitchFamily="34" charset="-122"/>
                <a:cs typeface="Cambria" pitchFamily="34" charset="-120"/>
              </a:rPr>
              <a:t>La gazette : pipeline complet</a:t>
            </a:r>
            <a:endParaRPr lang="en-US" sz="3600" dirty="0"/>
          </a:p>
        </p:txBody>
      </p:sp>
      <p:sp>
        <p:nvSpPr>
          <p:cNvPr id="3" name="Text 1"/>
          <p:cNvSpPr txBox="1"/>
          <p:nvPr/>
        </p:nvSpPr>
        <p:spPr>
          <a:xfrm>
            <a:off x="457200" y="786384"/>
            <a:ext cx="8229600" cy="274320"/>
          </a:xfrm>
          <a:prstGeom prst="rect">
            <a:avLst/>
          </a:prstGeom>
          <a:noFill/>
          <a:ln/>
        </p:spPr>
        <p:txBody>
          <a:bodyPr wrap="square" lIns="0" tIns="0" rIns="0" bIns="0" rtlCol="0" anchor="ctr"/>
          <a:lstStyle/>
          <a:p>
            <a:pPr marL="0" indent="0">
              <a:buNone/>
            </a:pPr>
            <a:r>
              <a:rPr lang="en-US" sz="1600" b="1" dirty="0">
                <a:solidFill>
                  <a:srgbClr val="1B2A49"/>
                </a:solidFill>
              </a:rPr>
              <a:t>Flèches bleues : les données</a:t>
            </a:r>
            <a:r>
              <a:rPr lang="en-US" sz="1600" dirty="0">
                <a:solidFill>
                  <a:srgbClr val="5B6B85"/>
                </a:solidFill>
              </a:rPr>
              <a:t>   ·   </a:t>
            </a:r>
            <a:r>
              <a:rPr lang="en-US" sz="1600" b="1" dirty="0">
                <a:solidFill>
                  <a:srgbClr val="0F8B8D"/>
                </a:solidFill>
              </a:rPr>
              <a:t>vertes : la supervision</a:t>
            </a:r>
            <a:r>
              <a:rPr lang="en-US" sz="1600" dirty="0">
                <a:solidFill>
                  <a:srgbClr val="5B6B85"/>
                </a:solidFill>
              </a:rPr>
              <a:t>   ·   </a:t>
            </a:r>
            <a:r>
              <a:rPr lang="en-US" sz="1600" b="1" dirty="0">
                <a:solidFill>
                  <a:srgbClr val="E8590C"/>
                </a:solidFill>
              </a:rPr>
              <a:t>orange : les alertes</a:t>
            </a:r>
            <a:endParaRPr lang="en-US" sz="1600" dirty="0"/>
          </a:p>
        </p:txBody>
      </p:sp>
      <p:sp>
        <p:nvSpPr>
          <p:cNvPr id="4" name="Conteneur Docker"/>
          <p:cNvSpPr/>
          <p:nvPr/>
        </p:nvSpPr>
        <p:spPr>
          <a:xfrm>
            <a:off x="1554480" y="1188720"/>
            <a:ext cx="8092440" cy="4434840"/>
          </a:xfrm>
          <a:prstGeom prst="roundRect">
            <a:avLst>
              <a:gd name="adj" fmla="val 2062"/>
            </a:avLst>
          </a:prstGeom>
          <a:solidFill>
            <a:srgbClr val="FFFFFF"/>
          </a:solidFill>
          <a:ln w="19050">
            <a:solidFill>
              <a:srgbClr val="2496ED"/>
            </a:solidFill>
            <a:prstDash val="dash"/>
          </a:ln>
        </p:spPr>
        <p:txBody>
          <a:bodyPr/>
          <a:lstStyle/>
          <a:p>
            <a:endParaRPr lang="fr-FR"/>
          </a:p>
        </p:txBody>
      </p:sp>
      <p:sp>
        <p:nvSpPr>
          <p:cNvPr id="5" name="Shape 3"/>
          <p:cNvSpPr/>
          <p:nvPr/>
        </p:nvSpPr>
        <p:spPr>
          <a:xfrm>
            <a:off x="1664208" y="1252728"/>
            <a:ext cx="274320" cy="274320"/>
          </a:xfrm>
          <a:prstGeom prst="ellipse">
            <a:avLst/>
          </a:prstGeom>
          <a:solidFill>
            <a:srgbClr val="2496ED"/>
          </a:solidFill>
          <a:ln w="12700">
            <a:solidFill>
              <a:srgbClr val="2496ED"/>
            </a:solidFill>
            <a:prstDash val="solid"/>
          </a:ln>
        </p:spPr>
        <p:txBody>
          <a:bodyPr/>
          <a:lstStyle/>
          <a:p>
            <a:endParaRPr lang="fr-FR"/>
          </a:p>
        </p:txBody>
      </p:sp>
      <p:pic>
        <p:nvPicPr>
          <p:cNvPr id="6" name="Image 0" descr="Docker"/>
          <p:cNvPicPr>
            <a:picLocks noChangeAspect="1"/>
          </p:cNvPicPr>
          <p:nvPr/>
        </p:nvPicPr>
        <p:blipFill>
          <a:blip r:embed="rId3"/>
          <a:stretch>
            <a:fillRect/>
          </a:stretch>
        </p:blipFill>
        <p:spPr>
          <a:xfrm>
            <a:off x="1732788" y="1321308"/>
            <a:ext cx="137160" cy="137160"/>
          </a:xfrm>
          <a:prstGeom prst="rect">
            <a:avLst/>
          </a:prstGeom>
        </p:spPr>
      </p:pic>
      <p:sp>
        <p:nvSpPr>
          <p:cNvPr id="7" name="Text 4"/>
          <p:cNvSpPr txBox="1"/>
          <p:nvPr/>
        </p:nvSpPr>
        <p:spPr>
          <a:xfrm>
            <a:off x="2011680" y="1252728"/>
            <a:ext cx="2743200" cy="274320"/>
          </a:xfrm>
          <a:prstGeom prst="rect">
            <a:avLst/>
          </a:prstGeom>
          <a:noFill/>
          <a:ln/>
        </p:spPr>
        <p:txBody>
          <a:bodyPr wrap="square" lIns="0" tIns="0" rIns="0" bIns="0" rtlCol="0" anchor="ctr"/>
          <a:lstStyle/>
          <a:p>
            <a:pPr marL="0" indent="0">
              <a:buNone/>
            </a:pPr>
            <a:r>
              <a:rPr lang="en-US" sz="1200" b="1" dirty="0">
                <a:solidFill>
                  <a:srgbClr val="2496ED"/>
                </a:solidFill>
              </a:rPr>
              <a:t>Docker + docker-compose</a:t>
            </a:r>
            <a:endParaRPr lang="en-US" sz="1200" dirty="0"/>
          </a:p>
        </p:txBody>
      </p:sp>
      <p:sp>
        <p:nvSpPr>
          <p:cNvPr id="8" name="Prefect toutes les heures"/>
          <p:cNvSpPr/>
          <p:nvPr/>
        </p:nvSpPr>
        <p:spPr>
          <a:xfrm>
            <a:off x="1645920" y="1600200"/>
            <a:ext cx="2971800" cy="2423160"/>
          </a:xfrm>
          <a:prstGeom prst="roundRect">
            <a:avLst>
              <a:gd name="adj" fmla="val 3019"/>
            </a:avLst>
          </a:prstGeom>
          <a:solidFill>
            <a:srgbClr val="F4F7FB"/>
          </a:solidFill>
          <a:ln w="9525">
            <a:solidFill>
              <a:srgbClr val="C5CEDD"/>
            </a:solidFill>
            <a:prstDash val="solid"/>
          </a:ln>
        </p:spPr>
        <p:txBody>
          <a:bodyPr/>
          <a:lstStyle/>
          <a:p>
            <a:endParaRPr lang="fr-FR"/>
          </a:p>
        </p:txBody>
      </p:sp>
      <p:sp>
        <p:nvSpPr>
          <p:cNvPr id="9" name="Text 6"/>
          <p:cNvSpPr txBox="1"/>
          <p:nvPr/>
        </p:nvSpPr>
        <p:spPr>
          <a:xfrm>
            <a:off x="1755648" y="1645920"/>
            <a:ext cx="2743200" cy="228600"/>
          </a:xfrm>
          <a:prstGeom prst="rect">
            <a:avLst/>
          </a:prstGeom>
          <a:noFill/>
          <a:ln/>
        </p:spPr>
        <p:txBody>
          <a:bodyPr wrap="square" lIns="0" tIns="0" rIns="0" bIns="0" rtlCol="0" anchor="ctr"/>
          <a:lstStyle/>
          <a:p>
            <a:pPr marL="0" indent="0">
              <a:buNone/>
            </a:pPr>
            <a:r>
              <a:rPr lang="en-US" sz="1200" b="1" dirty="0">
                <a:solidFill>
                  <a:srgbClr val="1B2A49"/>
                </a:solidFill>
              </a:rPr>
              <a:t>Prefect · toutes les heures</a:t>
            </a:r>
            <a:endParaRPr lang="en-US" sz="1200" dirty="0"/>
          </a:p>
        </p:txBody>
      </p:sp>
      <p:sp>
        <p:nvSpPr>
          <p:cNvPr id="10" name="Prefect une fois par jour"/>
          <p:cNvSpPr/>
          <p:nvPr/>
        </p:nvSpPr>
        <p:spPr>
          <a:xfrm>
            <a:off x="4937760" y="1600200"/>
            <a:ext cx="4480560" cy="2423160"/>
          </a:xfrm>
          <a:prstGeom prst="roundRect">
            <a:avLst>
              <a:gd name="adj" fmla="val 3019"/>
            </a:avLst>
          </a:prstGeom>
          <a:solidFill>
            <a:srgbClr val="F4F7FB"/>
          </a:solidFill>
          <a:ln w="9525">
            <a:solidFill>
              <a:srgbClr val="C5CEDD"/>
            </a:solidFill>
            <a:prstDash val="solid"/>
          </a:ln>
        </p:spPr>
        <p:txBody>
          <a:bodyPr/>
          <a:lstStyle/>
          <a:p>
            <a:endParaRPr lang="fr-FR"/>
          </a:p>
        </p:txBody>
      </p:sp>
      <p:sp>
        <p:nvSpPr>
          <p:cNvPr id="11" name="Text 8"/>
          <p:cNvSpPr txBox="1"/>
          <p:nvPr/>
        </p:nvSpPr>
        <p:spPr>
          <a:xfrm>
            <a:off x="5047488" y="1645920"/>
            <a:ext cx="4206240" cy="228600"/>
          </a:xfrm>
          <a:prstGeom prst="rect">
            <a:avLst/>
          </a:prstGeom>
          <a:noFill/>
          <a:ln/>
        </p:spPr>
        <p:txBody>
          <a:bodyPr wrap="square" lIns="0" tIns="0" rIns="0" bIns="0" rtlCol="0" anchor="ctr"/>
          <a:lstStyle/>
          <a:p>
            <a:pPr marL="0" indent="0">
              <a:buNone/>
            </a:pPr>
            <a:r>
              <a:rPr lang="en-US" sz="1200" b="1" dirty="0">
                <a:solidFill>
                  <a:srgbClr val="1B2A49"/>
                </a:solidFill>
              </a:rPr>
              <a:t>Prefect · une fois par jour, vers 5 h 30</a:t>
            </a:r>
            <a:endParaRPr lang="en-US" sz="1200" dirty="0"/>
          </a:p>
        </p:txBody>
      </p:sp>
      <p:sp>
        <p:nvSpPr>
          <p:cNvPr id="12" name="Etape Collecte"/>
          <p:cNvSpPr/>
          <p:nvPr/>
        </p:nvSpPr>
        <p:spPr>
          <a:xfrm>
            <a:off x="1737360" y="1920240"/>
            <a:ext cx="1280160" cy="1280160"/>
          </a:xfrm>
          <a:prstGeom prst="roundRect">
            <a:avLst>
              <a:gd name="adj" fmla="val 5714"/>
            </a:avLst>
          </a:prstGeom>
          <a:solidFill>
            <a:srgbClr val="FFFFFF"/>
          </a:solidFill>
          <a:ln w="12700">
            <a:solidFill>
              <a:srgbClr val="1B2A49"/>
            </a:solidFill>
            <a:prstDash val="solid"/>
          </a:ln>
        </p:spPr>
        <p:txBody>
          <a:bodyPr/>
          <a:lstStyle/>
          <a:p>
            <a:endParaRPr lang="fr-FR"/>
          </a:p>
        </p:txBody>
      </p:sp>
      <p:sp>
        <p:nvSpPr>
          <p:cNvPr id="13" name="Shape 10"/>
          <p:cNvSpPr/>
          <p:nvPr/>
        </p:nvSpPr>
        <p:spPr>
          <a:xfrm>
            <a:off x="1847088" y="2029968"/>
            <a:ext cx="365760" cy="365760"/>
          </a:xfrm>
          <a:prstGeom prst="ellipse">
            <a:avLst/>
          </a:prstGeom>
          <a:solidFill>
            <a:srgbClr val="1B2A49"/>
          </a:solidFill>
          <a:ln w="12700">
            <a:solidFill>
              <a:srgbClr val="1B2A49"/>
            </a:solidFill>
            <a:prstDash val="solid"/>
          </a:ln>
        </p:spPr>
        <p:txBody>
          <a:bodyPr/>
          <a:lstStyle/>
          <a:p>
            <a:endParaRPr lang="fr-FR"/>
          </a:p>
        </p:txBody>
      </p:sp>
      <p:pic>
        <p:nvPicPr>
          <p:cNvPr id="14" name="Image 1" descr="Collecte"/>
          <p:cNvPicPr>
            <a:picLocks noChangeAspect="1"/>
          </p:cNvPicPr>
          <p:nvPr/>
        </p:nvPicPr>
        <p:blipFill>
          <a:blip r:embed="rId4"/>
          <a:stretch>
            <a:fillRect/>
          </a:stretch>
        </p:blipFill>
        <p:spPr>
          <a:xfrm>
            <a:off x="1938528" y="2121408"/>
            <a:ext cx="182880" cy="182880"/>
          </a:xfrm>
          <a:prstGeom prst="rect">
            <a:avLst/>
          </a:prstGeom>
        </p:spPr>
      </p:pic>
      <p:sp>
        <p:nvSpPr>
          <p:cNvPr id="15" name="Text 11"/>
          <p:cNvSpPr txBox="1"/>
          <p:nvPr/>
        </p:nvSpPr>
        <p:spPr>
          <a:xfrm>
            <a:off x="2651760" y="2029968"/>
            <a:ext cx="256032" cy="228600"/>
          </a:xfrm>
          <a:prstGeom prst="rect">
            <a:avLst/>
          </a:prstGeom>
          <a:noFill/>
          <a:ln/>
        </p:spPr>
        <p:txBody>
          <a:bodyPr wrap="square" lIns="0" tIns="0" rIns="0" bIns="0" rtlCol="0" anchor="ctr"/>
          <a:lstStyle/>
          <a:p>
            <a:pPr marL="0" indent="0" algn="r">
              <a:buNone/>
            </a:pPr>
            <a:r>
              <a:rPr lang="en-US" sz="1200" b="1" dirty="0">
                <a:solidFill>
                  <a:srgbClr val="5B6B85"/>
                </a:solidFill>
              </a:rPr>
              <a:t>1</a:t>
            </a:r>
            <a:endParaRPr lang="en-US" sz="1200" dirty="0"/>
          </a:p>
        </p:txBody>
      </p:sp>
      <p:sp>
        <p:nvSpPr>
          <p:cNvPr id="16" name="Text 12"/>
          <p:cNvSpPr txBox="1"/>
          <p:nvPr/>
        </p:nvSpPr>
        <p:spPr>
          <a:xfrm>
            <a:off x="1828800" y="2487168"/>
            <a:ext cx="1143000" cy="256032"/>
          </a:xfrm>
          <a:prstGeom prst="rect">
            <a:avLst/>
          </a:prstGeom>
          <a:noFill/>
          <a:ln/>
        </p:spPr>
        <p:txBody>
          <a:bodyPr wrap="square" lIns="0" tIns="0" rIns="0" bIns="0" rtlCol="0" anchor="ctr"/>
          <a:lstStyle/>
          <a:p>
            <a:pPr marL="0" indent="0">
              <a:buNone/>
            </a:pPr>
            <a:r>
              <a:rPr lang="en-US" sz="1400" b="1" dirty="0">
                <a:solidFill>
                  <a:srgbClr val="0F172A"/>
                </a:solidFill>
              </a:rPr>
              <a:t>Collecte</a:t>
            </a:r>
            <a:endParaRPr lang="en-US" sz="1400" dirty="0"/>
          </a:p>
        </p:txBody>
      </p:sp>
      <p:sp>
        <p:nvSpPr>
          <p:cNvPr id="17" name="Text 13"/>
          <p:cNvSpPr txBox="1"/>
          <p:nvPr/>
        </p:nvSpPr>
        <p:spPr>
          <a:xfrm>
            <a:off x="1828800" y="2761488"/>
            <a:ext cx="1115568" cy="384048"/>
          </a:xfrm>
          <a:prstGeom prst="rect">
            <a:avLst/>
          </a:prstGeom>
          <a:noFill/>
          <a:ln/>
        </p:spPr>
        <p:txBody>
          <a:bodyPr wrap="square" lIns="0" tIns="0" rIns="0" bIns="0" rtlCol="0" anchor="t"/>
          <a:lstStyle/>
          <a:p>
            <a:pPr marL="0" indent="0">
              <a:buNone/>
            </a:pPr>
            <a:r>
              <a:rPr lang="en-US" sz="1200" dirty="0">
                <a:solidFill>
                  <a:srgbClr val="5B6B85"/>
                </a:solidFill>
              </a:rPr>
              <a:t>Flux RSS, reprises</a:t>
            </a:r>
            <a:endParaRPr lang="en-US" sz="1200" dirty="0"/>
          </a:p>
        </p:txBody>
      </p:sp>
      <p:sp>
        <p:nvSpPr>
          <p:cNvPr id="18" name="Shape 14"/>
          <p:cNvSpPr/>
          <p:nvPr/>
        </p:nvSpPr>
        <p:spPr>
          <a:xfrm>
            <a:off x="3044952" y="2560320"/>
            <a:ext cx="173736" cy="0"/>
          </a:xfrm>
          <a:prstGeom prst="line">
            <a:avLst/>
          </a:prstGeom>
          <a:noFill/>
          <a:ln w="25400">
            <a:solidFill>
              <a:srgbClr val="1B2A49"/>
            </a:solidFill>
            <a:prstDash val="solid"/>
            <a:tailEnd type="triangle"/>
          </a:ln>
        </p:spPr>
        <p:txBody>
          <a:bodyPr/>
          <a:lstStyle/>
          <a:p>
            <a:endParaRPr lang="fr-FR"/>
          </a:p>
        </p:txBody>
      </p:sp>
      <p:sp>
        <p:nvSpPr>
          <p:cNvPr id="19" name="Etape Stockage brut"/>
          <p:cNvSpPr/>
          <p:nvPr/>
        </p:nvSpPr>
        <p:spPr>
          <a:xfrm>
            <a:off x="3246120" y="1920240"/>
            <a:ext cx="1280160" cy="1280160"/>
          </a:xfrm>
          <a:prstGeom prst="roundRect">
            <a:avLst>
              <a:gd name="adj" fmla="val 5714"/>
            </a:avLst>
          </a:prstGeom>
          <a:solidFill>
            <a:srgbClr val="FFFFFF"/>
          </a:solidFill>
          <a:ln w="12700">
            <a:solidFill>
              <a:srgbClr val="1B2A49"/>
            </a:solidFill>
            <a:prstDash val="solid"/>
          </a:ln>
        </p:spPr>
        <p:txBody>
          <a:bodyPr/>
          <a:lstStyle/>
          <a:p>
            <a:endParaRPr lang="fr-FR"/>
          </a:p>
        </p:txBody>
      </p:sp>
      <p:sp>
        <p:nvSpPr>
          <p:cNvPr id="20" name="Shape 16"/>
          <p:cNvSpPr/>
          <p:nvPr/>
        </p:nvSpPr>
        <p:spPr>
          <a:xfrm>
            <a:off x="3355848" y="2029968"/>
            <a:ext cx="365760" cy="365760"/>
          </a:xfrm>
          <a:prstGeom prst="ellipse">
            <a:avLst/>
          </a:prstGeom>
          <a:solidFill>
            <a:srgbClr val="1B2A49"/>
          </a:solidFill>
          <a:ln w="12700">
            <a:solidFill>
              <a:srgbClr val="1B2A49"/>
            </a:solidFill>
            <a:prstDash val="solid"/>
          </a:ln>
        </p:spPr>
        <p:txBody>
          <a:bodyPr/>
          <a:lstStyle/>
          <a:p>
            <a:endParaRPr lang="fr-FR"/>
          </a:p>
        </p:txBody>
      </p:sp>
      <p:pic>
        <p:nvPicPr>
          <p:cNvPr id="21" name="Image 2" descr="Stockage brut"/>
          <p:cNvPicPr>
            <a:picLocks noChangeAspect="1"/>
          </p:cNvPicPr>
          <p:nvPr/>
        </p:nvPicPr>
        <p:blipFill>
          <a:blip r:embed="rId5"/>
          <a:stretch>
            <a:fillRect/>
          </a:stretch>
        </p:blipFill>
        <p:spPr>
          <a:xfrm>
            <a:off x="3447288" y="2121408"/>
            <a:ext cx="182880" cy="182880"/>
          </a:xfrm>
          <a:prstGeom prst="rect">
            <a:avLst/>
          </a:prstGeom>
        </p:spPr>
      </p:pic>
      <p:sp>
        <p:nvSpPr>
          <p:cNvPr id="22" name="Text 17"/>
          <p:cNvSpPr txBox="1"/>
          <p:nvPr/>
        </p:nvSpPr>
        <p:spPr>
          <a:xfrm>
            <a:off x="4160520" y="2029968"/>
            <a:ext cx="256032" cy="228600"/>
          </a:xfrm>
          <a:prstGeom prst="rect">
            <a:avLst/>
          </a:prstGeom>
          <a:noFill/>
          <a:ln/>
        </p:spPr>
        <p:txBody>
          <a:bodyPr wrap="square" lIns="0" tIns="0" rIns="0" bIns="0" rtlCol="0" anchor="ctr"/>
          <a:lstStyle/>
          <a:p>
            <a:pPr marL="0" indent="0" algn="r">
              <a:buNone/>
            </a:pPr>
            <a:r>
              <a:rPr lang="en-US" sz="1200" b="1" dirty="0">
                <a:solidFill>
                  <a:srgbClr val="5B6B85"/>
                </a:solidFill>
              </a:rPr>
              <a:t>2</a:t>
            </a:r>
            <a:endParaRPr lang="en-US" sz="1200" dirty="0"/>
          </a:p>
        </p:txBody>
      </p:sp>
      <p:sp>
        <p:nvSpPr>
          <p:cNvPr id="23" name="Text 18"/>
          <p:cNvSpPr txBox="1"/>
          <p:nvPr/>
        </p:nvSpPr>
        <p:spPr>
          <a:xfrm>
            <a:off x="3337560" y="2401759"/>
            <a:ext cx="1143000" cy="256032"/>
          </a:xfrm>
          <a:prstGeom prst="rect">
            <a:avLst/>
          </a:prstGeom>
          <a:noFill/>
          <a:ln/>
        </p:spPr>
        <p:txBody>
          <a:bodyPr wrap="square" lIns="0" tIns="0" rIns="0" bIns="0" rtlCol="0" anchor="ctr"/>
          <a:lstStyle/>
          <a:p>
            <a:pPr marL="0" indent="0">
              <a:buNone/>
            </a:pPr>
            <a:r>
              <a:rPr lang="en-US" sz="1400" b="1" dirty="0">
                <a:solidFill>
                  <a:srgbClr val="0F172A"/>
                </a:solidFill>
              </a:rPr>
              <a:t>Stockage brut</a:t>
            </a:r>
            <a:endParaRPr lang="en-US" sz="1400" dirty="0"/>
          </a:p>
        </p:txBody>
      </p:sp>
      <p:sp>
        <p:nvSpPr>
          <p:cNvPr id="24" name="Text 19"/>
          <p:cNvSpPr txBox="1"/>
          <p:nvPr/>
        </p:nvSpPr>
        <p:spPr>
          <a:xfrm>
            <a:off x="3378708" y="2679192"/>
            <a:ext cx="1115568" cy="384048"/>
          </a:xfrm>
          <a:prstGeom prst="rect">
            <a:avLst/>
          </a:prstGeom>
          <a:noFill/>
          <a:ln/>
        </p:spPr>
        <p:txBody>
          <a:bodyPr wrap="square" lIns="0" tIns="0" rIns="0" bIns="0" rtlCol="0" anchor="t"/>
          <a:lstStyle/>
          <a:p>
            <a:pPr marL="0" indent="0">
              <a:buNone/>
            </a:pPr>
            <a:r>
              <a:rPr lang="en-US" sz="1200" dirty="0" err="1">
                <a:solidFill>
                  <a:srgbClr val="5B6B85"/>
                </a:solidFill>
              </a:rPr>
              <a:t>Fichiers</a:t>
            </a:r>
            <a:r>
              <a:rPr lang="en-US" sz="1200" dirty="0">
                <a:solidFill>
                  <a:srgbClr val="5B6B85"/>
                </a:solidFill>
              </a:rPr>
              <a:t> </a:t>
            </a:r>
            <a:r>
              <a:rPr lang="en-US" sz="1200" dirty="0" err="1">
                <a:solidFill>
                  <a:srgbClr val="5B6B85"/>
                </a:solidFill>
              </a:rPr>
              <a:t>JSONLou</a:t>
            </a:r>
            <a:r>
              <a:rPr lang="en-US" sz="1200" dirty="0">
                <a:solidFill>
                  <a:srgbClr val="5B6B85"/>
                </a:solidFill>
              </a:rPr>
              <a:t> parquet , sans doublon</a:t>
            </a:r>
            <a:endParaRPr lang="en-US" sz="1200" dirty="0"/>
          </a:p>
        </p:txBody>
      </p:sp>
      <p:sp>
        <p:nvSpPr>
          <p:cNvPr id="25" name="Shape 20"/>
          <p:cNvSpPr/>
          <p:nvPr/>
        </p:nvSpPr>
        <p:spPr>
          <a:xfrm>
            <a:off x="4553712" y="2560320"/>
            <a:ext cx="448056" cy="0"/>
          </a:xfrm>
          <a:prstGeom prst="line">
            <a:avLst/>
          </a:prstGeom>
          <a:noFill/>
          <a:ln w="25400">
            <a:solidFill>
              <a:srgbClr val="1B2A49"/>
            </a:solidFill>
            <a:prstDash val="solid"/>
            <a:tailEnd type="triangle"/>
          </a:ln>
        </p:spPr>
        <p:txBody>
          <a:bodyPr/>
          <a:lstStyle/>
          <a:p>
            <a:endParaRPr lang="fr-FR"/>
          </a:p>
        </p:txBody>
      </p:sp>
      <p:sp>
        <p:nvSpPr>
          <p:cNvPr id="26" name="Etape Nettoyage"/>
          <p:cNvSpPr/>
          <p:nvPr/>
        </p:nvSpPr>
        <p:spPr>
          <a:xfrm>
            <a:off x="5029200" y="1920240"/>
            <a:ext cx="1280160" cy="1280160"/>
          </a:xfrm>
          <a:prstGeom prst="roundRect">
            <a:avLst>
              <a:gd name="adj" fmla="val 5714"/>
            </a:avLst>
          </a:prstGeom>
          <a:solidFill>
            <a:srgbClr val="FFFFFF"/>
          </a:solidFill>
          <a:ln w="12700">
            <a:solidFill>
              <a:srgbClr val="1B2A49"/>
            </a:solidFill>
            <a:prstDash val="solid"/>
          </a:ln>
        </p:spPr>
        <p:txBody>
          <a:bodyPr/>
          <a:lstStyle/>
          <a:p>
            <a:endParaRPr lang="fr-FR"/>
          </a:p>
        </p:txBody>
      </p:sp>
      <p:sp>
        <p:nvSpPr>
          <p:cNvPr id="27" name="Shape 22"/>
          <p:cNvSpPr/>
          <p:nvPr/>
        </p:nvSpPr>
        <p:spPr>
          <a:xfrm>
            <a:off x="5138928" y="2029968"/>
            <a:ext cx="365760" cy="365760"/>
          </a:xfrm>
          <a:prstGeom prst="ellipse">
            <a:avLst/>
          </a:prstGeom>
          <a:solidFill>
            <a:srgbClr val="1B2A49"/>
          </a:solidFill>
          <a:ln w="12700">
            <a:solidFill>
              <a:srgbClr val="1B2A49"/>
            </a:solidFill>
            <a:prstDash val="solid"/>
          </a:ln>
        </p:spPr>
        <p:txBody>
          <a:bodyPr/>
          <a:lstStyle/>
          <a:p>
            <a:endParaRPr lang="fr-FR"/>
          </a:p>
        </p:txBody>
      </p:sp>
      <p:pic>
        <p:nvPicPr>
          <p:cNvPr id="28" name="Image 3" descr="Nettoyage"/>
          <p:cNvPicPr>
            <a:picLocks noChangeAspect="1"/>
          </p:cNvPicPr>
          <p:nvPr/>
        </p:nvPicPr>
        <p:blipFill>
          <a:blip r:embed="rId6"/>
          <a:stretch>
            <a:fillRect/>
          </a:stretch>
        </p:blipFill>
        <p:spPr>
          <a:xfrm>
            <a:off x="5230368" y="2121408"/>
            <a:ext cx="182880" cy="182880"/>
          </a:xfrm>
          <a:prstGeom prst="rect">
            <a:avLst/>
          </a:prstGeom>
        </p:spPr>
      </p:pic>
      <p:sp>
        <p:nvSpPr>
          <p:cNvPr id="29" name="Text 23"/>
          <p:cNvSpPr txBox="1"/>
          <p:nvPr/>
        </p:nvSpPr>
        <p:spPr>
          <a:xfrm>
            <a:off x="5943600" y="2029968"/>
            <a:ext cx="256032" cy="228600"/>
          </a:xfrm>
          <a:prstGeom prst="rect">
            <a:avLst/>
          </a:prstGeom>
          <a:noFill/>
          <a:ln/>
        </p:spPr>
        <p:txBody>
          <a:bodyPr wrap="square" lIns="0" tIns="0" rIns="0" bIns="0" rtlCol="0" anchor="ctr"/>
          <a:lstStyle/>
          <a:p>
            <a:pPr marL="0" indent="0" algn="r">
              <a:buNone/>
            </a:pPr>
            <a:r>
              <a:rPr lang="en-US" sz="1200" b="1" dirty="0">
                <a:solidFill>
                  <a:srgbClr val="5B6B85"/>
                </a:solidFill>
              </a:rPr>
              <a:t>3</a:t>
            </a:r>
            <a:endParaRPr lang="en-US" sz="1200" dirty="0"/>
          </a:p>
        </p:txBody>
      </p:sp>
      <p:sp>
        <p:nvSpPr>
          <p:cNvPr id="30" name="Text 24"/>
          <p:cNvSpPr txBox="1"/>
          <p:nvPr/>
        </p:nvSpPr>
        <p:spPr>
          <a:xfrm>
            <a:off x="5120640" y="2487168"/>
            <a:ext cx="1143000" cy="256032"/>
          </a:xfrm>
          <a:prstGeom prst="rect">
            <a:avLst/>
          </a:prstGeom>
          <a:noFill/>
          <a:ln/>
        </p:spPr>
        <p:txBody>
          <a:bodyPr wrap="square" lIns="0" tIns="0" rIns="0" bIns="0" rtlCol="0" anchor="ctr"/>
          <a:lstStyle/>
          <a:p>
            <a:pPr marL="0" indent="0">
              <a:buNone/>
            </a:pPr>
            <a:r>
              <a:rPr lang="en-US" sz="1400" b="1" dirty="0">
                <a:solidFill>
                  <a:srgbClr val="0F172A"/>
                </a:solidFill>
              </a:rPr>
              <a:t>Nettoyage</a:t>
            </a:r>
            <a:endParaRPr lang="en-US" sz="1400" dirty="0"/>
          </a:p>
        </p:txBody>
      </p:sp>
      <p:sp>
        <p:nvSpPr>
          <p:cNvPr id="31" name="Text 25"/>
          <p:cNvSpPr txBox="1"/>
          <p:nvPr/>
        </p:nvSpPr>
        <p:spPr>
          <a:xfrm>
            <a:off x="5120640" y="2761488"/>
            <a:ext cx="1115568" cy="384048"/>
          </a:xfrm>
          <a:prstGeom prst="rect">
            <a:avLst/>
          </a:prstGeom>
          <a:noFill/>
          <a:ln/>
        </p:spPr>
        <p:txBody>
          <a:bodyPr wrap="square" lIns="0" tIns="0" rIns="0" bIns="0" rtlCol="0" anchor="t"/>
          <a:lstStyle/>
          <a:p>
            <a:pPr marL="0" indent="0">
              <a:buNone/>
            </a:pPr>
            <a:r>
              <a:rPr lang="en-US" sz="1200" dirty="0">
                <a:solidFill>
                  <a:srgbClr val="5B6B85"/>
                </a:solidFill>
              </a:rPr>
              <a:t>Règles qualité, PostgreSQL</a:t>
            </a:r>
            <a:endParaRPr lang="en-US" sz="1200" dirty="0"/>
          </a:p>
        </p:txBody>
      </p:sp>
      <p:sp>
        <p:nvSpPr>
          <p:cNvPr id="32" name="Shape 26"/>
          <p:cNvSpPr/>
          <p:nvPr/>
        </p:nvSpPr>
        <p:spPr>
          <a:xfrm>
            <a:off x="6336792" y="2560320"/>
            <a:ext cx="173736" cy="0"/>
          </a:xfrm>
          <a:prstGeom prst="line">
            <a:avLst/>
          </a:prstGeom>
          <a:noFill/>
          <a:ln w="25400">
            <a:solidFill>
              <a:srgbClr val="1B2A49"/>
            </a:solidFill>
            <a:prstDash val="solid"/>
            <a:tailEnd type="triangle"/>
          </a:ln>
        </p:spPr>
        <p:txBody>
          <a:bodyPr/>
          <a:lstStyle/>
          <a:p>
            <a:endParaRPr lang="fr-FR"/>
          </a:p>
        </p:txBody>
      </p:sp>
      <p:sp>
        <p:nvSpPr>
          <p:cNvPr id="33" name="Etape Thèmes"/>
          <p:cNvSpPr/>
          <p:nvPr/>
        </p:nvSpPr>
        <p:spPr>
          <a:xfrm>
            <a:off x="6537960" y="1920240"/>
            <a:ext cx="1280160" cy="1280160"/>
          </a:xfrm>
          <a:prstGeom prst="roundRect">
            <a:avLst>
              <a:gd name="adj" fmla="val 5714"/>
            </a:avLst>
          </a:prstGeom>
          <a:solidFill>
            <a:srgbClr val="FFFFFF"/>
          </a:solidFill>
          <a:ln w="12700">
            <a:solidFill>
              <a:srgbClr val="1B2A49"/>
            </a:solidFill>
            <a:prstDash val="solid"/>
          </a:ln>
        </p:spPr>
        <p:txBody>
          <a:bodyPr/>
          <a:lstStyle/>
          <a:p>
            <a:endParaRPr lang="fr-FR"/>
          </a:p>
        </p:txBody>
      </p:sp>
      <p:sp>
        <p:nvSpPr>
          <p:cNvPr id="34" name="Shape 28"/>
          <p:cNvSpPr/>
          <p:nvPr/>
        </p:nvSpPr>
        <p:spPr>
          <a:xfrm>
            <a:off x="6647688" y="2029968"/>
            <a:ext cx="365760" cy="365760"/>
          </a:xfrm>
          <a:prstGeom prst="ellipse">
            <a:avLst/>
          </a:prstGeom>
          <a:solidFill>
            <a:srgbClr val="1B2A49"/>
          </a:solidFill>
          <a:ln w="12700">
            <a:solidFill>
              <a:srgbClr val="1B2A49"/>
            </a:solidFill>
            <a:prstDash val="solid"/>
          </a:ln>
        </p:spPr>
        <p:txBody>
          <a:bodyPr/>
          <a:lstStyle/>
          <a:p>
            <a:endParaRPr lang="fr-FR"/>
          </a:p>
        </p:txBody>
      </p:sp>
      <p:pic>
        <p:nvPicPr>
          <p:cNvPr id="35" name="Image 4" descr="Thèmes"/>
          <p:cNvPicPr>
            <a:picLocks noChangeAspect="1"/>
          </p:cNvPicPr>
          <p:nvPr/>
        </p:nvPicPr>
        <p:blipFill>
          <a:blip r:embed="rId7"/>
          <a:stretch>
            <a:fillRect/>
          </a:stretch>
        </p:blipFill>
        <p:spPr>
          <a:xfrm>
            <a:off x="6739128" y="2121408"/>
            <a:ext cx="182880" cy="182880"/>
          </a:xfrm>
          <a:prstGeom prst="rect">
            <a:avLst/>
          </a:prstGeom>
        </p:spPr>
      </p:pic>
      <p:sp>
        <p:nvSpPr>
          <p:cNvPr id="36" name="Text 29"/>
          <p:cNvSpPr txBox="1"/>
          <p:nvPr/>
        </p:nvSpPr>
        <p:spPr>
          <a:xfrm>
            <a:off x="7452360" y="2029968"/>
            <a:ext cx="256032" cy="228600"/>
          </a:xfrm>
          <a:prstGeom prst="rect">
            <a:avLst/>
          </a:prstGeom>
          <a:noFill/>
          <a:ln/>
        </p:spPr>
        <p:txBody>
          <a:bodyPr wrap="square" lIns="0" tIns="0" rIns="0" bIns="0" rtlCol="0" anchor="ctr"/>
          <a:lstStyle/>
          <a:p>
            <a:pPr marL="0" indent="0" algn="r">
              <a:buNone/>
            </a:pPr>
            <a:r>
              <a:rPr lang="en-US" sz="1200" b="1" dirty="0">
                <a:solidFill>
                  <a:srgbClr val="5B6B85"/>
                </a:solidFill>
              </a:rPr>
              <a:t>4</a:t>
            </a:r>
            <a:endParaRPr lang="en-US" sz="1200" dirty="0"/>
          </a:p>
        </p:txBody>
      </p:sp>
      <p:sp>
        <p:nvSpPr>
          <p:cNvPr id="37" name="Text 30"/>
          <p:cNvSpPr txBox="1"/>
          <p:nvPr/>
        </p:nvSpPr>
        <p:spPr>
          <a:xfrm>
            <a:off x="6629400" y="2487168"/>
            <a:ext cx="1143000" cy="256032"/>
          </a:xfrm>
          <a:prstGeom prst="rect">
            <a:avLst/>
          </a:prstGeom>
          <a:noFill/>
          <a:ln/>
        </p:spPr>
        <p:txBody>
          <a:bodyPr wrap="square" lIns="0" tIns="0" rIns="0" bIns="0" rtlCol="0" anchor="ctr"/>
          <a:lstStyle/>
          <a:p>
            <a:pPr marL="0" indent="0">
              <a:buNone/>
            </a:pPr>
            <a:r>
              <a:rPr lang="en-US" sz="1400" b="1" dirty="0">
                <a:solidFill>
                  <a:srgbClr val="0F172A"/>
                </a:solidFill>
              </a:rPr>
              <a:t>Thèmes</a:t>
            </a:r>
            <a:endParaRPr lang="en-US" sz="1400" dirty="0"/>
          </a:p>
        </p:txBody>
      </p:sp>
      <p:sp>
        <p:nvSpPr>
          <p:cNvPr id="38" name="Text 31"/>
          <p:cNvSpPr txBox="1"/>
          <p:nvPr/>
        </p:nvSpPr>
        <p:spPr>
          <a:xfrm>
            <a:off x="6629400" y="2761488"/>
            <a:ext cx="1115568" cy="384048"/>
          </a:xfrm>
          <a:prstGeom prst="rect">
            <a:avLst/>
          </a:prstGeom>
          <a:noFill/>
          <a:ln/>
        </p:spPr>
        <p:txBody>
          <a:bodyPr wrap="square" lIns="0" tIns="0" rIns="0" bIns="0" rtlCol="0" anchor="t"/>
          <a:lstStyle/>
          <a:p>
            <a:pPr marL="0" indent="0">
              <a:buNone/>
            </a:pPr>
            <a:r>
              <a:rPr lang="en-US" sz="1200" dirty="0">
                <a:solidFill>
                  <a:srgbClr val="5B6B85"/>
                </a:solidFill>
              </a:rPr>
              <a:t>BERTopic, suivi MLflow</a:t>
            </a:r>
            <a:endParaRPr lang="en-US" sz="1200" dirty="0"/>
          </a:p>
        </p:txBody>
      </p:sp>
      <p:sp>
        <p:nvSpPr>
          <p:cNvPr id="39" name="Shape 32"/>
          <p:cNvSpPr/>
          <p:nvPr/>
        </p:nvSpPr>
        <p:spPr>
          <a:xfrm>
            <a:off x="7845552" y="2560320"/>
            <a:ext cx="173736" cy="0"/>
          </a:xfrm>
          <a:prstGeom prst="line">
            <a:avLst/>
          </a:prstGeom>
          <a:noFill/>
          <a:ln w="25400">
            <a:solidFill>
              <a:srgbClr val="1B2A49"/>
            </a:solidFill>
            <a:prstDash val="solid"/>
            <a:tailEnd type="triangle"/>
          </a:ln>
        </p:spPr>
        <p:txBody>
          <a:bodyPr/>
          <a:lstStyle/>
          <a:p>
            <a:endParaRPr lang="fr-FR"/>
          </a:p>
        </p:txBody>
      </p:sp>
      <p:sp>
        <p:nvSpPr>
          <p:cNvPr id="40" name="Etape Livraison"/>
          <p:cNvSpPr/>
          <p:nvPr/>
        </p:nvSpPr>
        <p:spPr>
          <a:xfrm>
            <a:off x="8046720" y="1920240"/>
            <a:ext cx="1280160" cy="1280160"/>
          </a:xfrm>
          <a:prstGeom prst="roundRect">
            <a:avLst>
              <a:gd name="adj" fmla="val 5714"/>
            </a:avLst>
          </a:prstGeom>
          <a:solidFill>
            <a:srgbClr val="FFFFFF"/>
          </a:solidFill>
          <a:ln w="12700">
            <a:solidFill>
              <a:srgbClr val="1B2A49"/>
            </a:solidFill>
            <a:prstDash val="solid"/>
          </a:ln>
        </p:spPr>
        <p:txBody>
          <a:bodyPr/>
          <a:lstStyle/>
          <a:p>
            <a:endParaRPr lang="fr-FR"/>
          </a:p>
        </p:txBody>
      </p:sp>
      <p:sp>
        <p:nvSpPr>
          <p:cNvPr id="41" name="Shape 34"/>
          <p:cNvSpPr/>
          <p:nvPr/>
        </p:nvSpPr>
        <p:spPr>
          <a:xfrm>
            <a:off x="8156448" y="2029968"/>
            <a:ext cx="365760" cy="365760"/>
          </a:xfrm>
          <a:prstGeom prst="ellipse">
            <a:avLst/>
          </a:prstGeom>
          <a:solidFill>
            <a:srgbClr val="1B2A49"/>
          </a:solidFill>
          <a:ln w="12700">
            <a:solidFill>
              <a:srgbClr val="1B2A49"/>
            </a:solidFill>
            <a:prstDash val="solid"/>
          </a:ln>
        </p:spPr>
        <p:txBody>
          <a:bodyPr/>
          <a:lstStyle/>
          <a:p>
            <a:endParaRPr lang="fr-FR"/>
          </a:p>
        </p:txBody>
      </p:sp>
      <p:pic>
        <p:nvPicPr>
          <p:cNvPr id="42" name="Image 5" descr="Livraison"/>
          <p:cNvPicPr>
            <a:picLocks noChangeAspect="1"/>
          </p:cNvPicPr>
          <p:nvPr/>
        </p:nvPicPr>
        <p:blipFill>
          <a:blip r:embed="rId8"/>
          <a:stretch>
            <a:fillRect/>
          </a:stretch>
        </p:blipFill>
        <p:spPr>
          <a:xfrm>
            <a:off x="8247888" y="2121408"/>
            <a:ext cx="182880" cy="182880"/>
          </a:xfrm>
          <a:prstGeom prst="rect">
            <a:avLst/>
          </a:prstGeom>
        </p:spPr>
      </p:pic>
      <p:sp>
        <p:nvSpPr>
          <p:cNvPr id="43" name="Text 35"/>
          <p:cNvSpPr txBox="1"/>
          <p:nvPr/>
        </p:nvSpPr>
        <p:spPr>
          <a:xfrm>
            <a:off x="8961120" y="2029968"/>
            <a:ext cx="256032" cy="228600"/>
          </a:xfrm>
          <a:prstGeom prst="rect">
            <a:avLst/>
          </a:prstGeom>
          <a:noFill/>
          <a:ln/>
        </p:spPr>
        <p:txBody>
          <a:bodyPr wrap="square" lIns="0" tIns="0" rIns="0" bIns="0" rtlCol="0" anchor="ctr"/>
          <a:lstStyle/>
          <a:p>
            <a:pPr marL="0" indent="0" algn="r">
              <a:buNone/>
            </a:pPr>
            <a:r>
              <a:rPr lang="en-US" sz="1200" b="1" dirty="0">
                <a:solidFill>
                  <a:srgbClr val="5B6B85"/>
                </a:solidFill>
              </a:rPr>
              <a:t>5</a:t>
            </a:r>
            <a:endParaRPr lang="en-US" sz="1200" dirty="0"/>
          </a:p>
        </p:txBody>
      </p:sp>
      <p:sp>
        <p:nvSpPr>
          <p:cNvPr id="44" name="Text 36"/>
          <p:cNvSpPr txBox="1"/>
          <p:nvPr/>
        </p:nvSpPr>
        <p:spPr>
          <a:xfrm>
            <a:off x="8138160" y="2487168"/>
            <a:ext cx="1143000" cy="256032"/>
          </a:xfrm>
          <a:prstGeom prst="rect">
            <a:avLst/>
          </a:prstGeom>
          <a:noFill/>
          <a:ln/>
        </p:spPr>
        <p:txBody>
          <a:bodyPr wrap="square" lIns="0" tIns="0" rIns="0" bIns="0" rtlCol="0" anchor="ctr"/>
          <a:lstStyle/>
          <a:p>
            <a:pPr marL="0" indent="0">
              <a:buNone/>
            </a:pPr>
            <a:r>
              <a:rPr lang="en-US" sz="1400" b="1" dirty="0">
                <a:solidFill>
                  <a:srgbClr val="0F172A"/>
                </a:solidFill>
              </a:rPr>
              <a:t>Livraison</a:t>
            </a:r>
            <a:endParaRPr lang="en-US" sz="1400" dirty="0"/>
          </a:p>
        </p:txBody>
      </p:sp>
      <p:sp>
        <p:nvSpPr>
          <p:cNvPr id="45" name="Text 37"/>
          <p:cNvSpPr txBox="1"/>
          <p:nvPr/>
        </p:nvSpPr>
        <p:spPr>
          <a:xfrm>
            <a:off x="8138160" y="2761488"/>
            <a:ext cx="1115568" cy="384048"/>
          </a:xfrm>
          <a:prstGeom prst="rect">
            <a:avLst/>
          </a:prstGeom>
          <a:noFill/>
          <a:ln/>
        </p:spPr>
        <p:txBody>
          <a:bodyPr wrap="square" lIns="0" tIns="0" rIns="0" bIns="0" rtlCol="0" anchor="t"/>
          <a:lstStyle/>
          <a:p>
            <a:pPr marL="0" indent="0">
              <a:buNone/>
            </a:pPr>
            <a:r>
              <a:rPr lang="en-US" sz="1200" dirty="0">
                <a:solidFill>
                  <a:srgbClr val="5B6B85"/>
                </a:solidFill>
              </a:rPr>
              <a:t>Génère, vérifie, publie</a:t>
            </a:r>
            <a:endParaRPr lang="en-US" sz="1200" dirty="0"/>
          </a:p>
        </p:txBody>
      </p:sp>
      <p:sp>
        <p:nvSpPr>
          <p:cNvPr id="46" name="Shape 38"/>
          <p:cNvSpPr/>
          <p:nvPr/>
        </p:nvSpPr>
        <p:spPr>
          <a:xfrm>
            <a:off x="3547872" y="3218688"/>
            <a:ext cx="0" cy="182880"/>
          </a:xfrm>
          <a:prstGeom prst="line">
            <a:avLst/>
          </a:prstGeom>
          <a:noFill/>
          <a:ln w="25400">
            <a:solidFill>
              <a:srgbClr val="1B2A49"/>
            </a:solidFill>
            <a:prstDash val="solid"/>
            <a:tailEnd type="triangle"/>
          </a:ln>
        </p:spPr>
        <p:txBody>
          <a:bodyPr/>
          <a:lstStyle/>
          <a:p>
            <a:endParaRPr lang="fr-FR"/>
          </a:p>
        </p:txBody>
      </p:sp>
      <p:sp>
        <p:nvSpPr>
          <p:cNvPr id="47" name="Bronze"/>
          <p:cNvSpPr/>
          <p:nvPr/>
        </p:nvSpPr>
        <p:spPr>
          <a:xfrm>
            <a:off x="3355848" y="3429000"/>
            <a:ext cx="384048" cy="457200"/>
          </a:xfrm>
          <a:prstGeom prst="can">
            <a:avLst/>
          </a:prstGeom>
          <a:solidFill>
            <a:srgbClr val="B87333"/>
          </a:solidFill>
          <a:ln w="6350">
            <a:solidFill>
              <a:srgbClr val="B87333"/>
            </a:solidFill>
            <a:prstDash val="solid"/>
          </a:ln>
        </p:spPr>
        <p:txBody>
          <a:bodyPr/>
          <a:lstStyle/>
          <a:p>
            <a:endParaRPr lang="fr-FR"/>
          </a:p>
        </p:txBody>
      </p:sp>
      <p:sp>
        <p:nvSpPr>
          <p:cNvPr id="48" name="Text 40"/>
          <p:cNvSpPr txBox="1"/>
          <p:nvPr/>
        </p:nvSpPr>
        <p:spPr>
          <a:xfrm>
            <a:off x="3840480" y="3456432"/>
            <a:ext cx="658368" cy="201168"/>
          </a:xfrm>
          <a:prstGeom prst="rect">
            <a:avLst/>
          </a:prstGeom>
          <a:noFill/>
          <a:ln/>
        </p:spPr>
        <p:txBody>
          <a:bodyPr wrap="square" lIns="0" tIns="0" rIns="0" bIns="0" rtlCol="0" anchor="ctr"/>
          <a:lstStyle/>
          <a:p>
            <a:pPr marL="0" indent="0">
              <a:buNone/>
            </a:pPr>
            <a:r>
              <a:rPr lang="en-US" sz="1200" b="1" dirty="0">
                <a:solidFill>
                  <a:srgbClr val="0F172A"/>
                </a:solidFill>
              </a:rPr>
              <a:t>Bronze</a:t>
            </a:r>
            <a:endParaRPr lang="en-US" sz="1200" dirty="0"/>
          </a:p>
        </p:txBody>
      </p:sp>
      <p:sp>
        <p:nvSpPr>
          <p:cNvPr id="49" name="Text 41"/>
          <p:cNvSpPr txBox="1"/>
          <p:nvPr/>
        </p:nvSpPr>
        <p:spPr>
          <a:xfrm>
            <a:off x="3840480" y="3666744"/>
            <a:ext cx="658368" cy="182880"/>
          </a:xfrm>
          <a:prstGeom prst="rect">
            <a:avLst/>
          </a:prstGeom>
          <a:noFill/>
          <a:ln/>
        </p:spPr>
        <p:txBody>
          <a:bodyPr wrap="square" lIns="0" tIns="0" rIns="0" bIns="0" rtlCol="0" anchor="ctr"/>
          <a:lstStyle/>
          <a:p>
            <a:pPr marL="0" indent="0">
              <a:buNone/>
            </a:pPr>
            <a:r>
              <a:rPr lang="en-US" sz="1000" dirty="0">
                <a:solidFill>
                  <a:srgbClr val="5B6B85"/>
                </a:solidFill>
              </a:rPr>
              <a:t>JSONL</a:t>
            </a:r>
            <a:endParaRPr lang="en-US" sz="1000" dirty="0"/>
          </a:p>
        </p:txBody>
      </p:sp>
      <p:sp>
        <p:nvSpPr>
          <p:cNvPr id="50" name="Shape 42"/>
          <p:cNvSpPr/>
          <p:nvPr/>
        </p:nvSpPr>
        <p:spPr>
          <a:xfrm>
            <a:off x="5330952" y="3218688"/>
            <a:ext cx="0" cy="182880"/>
          </a:xfrm>
          <a:prstGeom prst="line">
            <a:avLst/>
          </a:prstGeom>
          <a:noFill/>
          <a:ln w="25400">
            <a:solidFill>
              <a:srgbClr val="1B2A49"/>
            </a:solidFill>
            <a:prstDash val="solid"/>
            <a:tailEnd type="triangle"/>
          </a:ln>
        </p:spPr>
        <p:txBody>
          <a:bodyPr/>
          <a:lstStyle/>
          <a:p>
            <a:endParaRPr lang="fr-FR"/>
          </a:p>
        </p:txBody>
      </p:sp>
      <p:sp>
        <p:nvSpPr>
          <p:cNvPr id="51" name="Silver"/>
          <p:cNvSpPr/>
          <p:nvPr/>
        </p:nvSpPr>
        <p:spPr>
          <a:xfrm>
            <a:off x="5138928" y="3429000"/>
            <a:ext cx="384048" cy="457200"/>
          </a:xfrm>
          <a:prstGeom prst="can">
            <a:avLst/>
          </a:prstGeom>
          <a:solidFill>
            <a:srgbClr val="8E99A8"/>
          </a:solidFill>
          <a:ln w="6350">
            <a:solidFill>
              <a:srgbClr val="8E99A8"/>
            </a:solidFill>
            <a:prstDash val="solid"/>
          </a:ln>
        </p:spPr>
        <p:txBody>
          <a:bodyPr/>
          <a:lstStyle/>
          <a:p>
            <a:endParaRPr lang="fr-FR"/>
          </a:p>
        </p:txBody>
      </p:sp>
      <p:sp>
        <p:nvSpPr>
          <p:cNvPr id="52" name="Text 44"/>
          <p:cNvSpPr txBox="1"/>
          <p:nvPr/>
        </p:nvSpPr>
        <p:spPr>
          <a:xfrm>
            <a:off x="5623560" y="3456432"/>
            <a:ext cx="658368" cy="201168"/>
          </a:xfrm>
          <a:prstGeom prst="rect">
            <a:avLst/>
          </a:prstGeom>
          <a:noFill/>
          <a:ln/>
        </p:spPr>
        <p:txBody>
          <a:bodyPr wrap="square" lIns="0" tIns="0" rIns="0" bIns="0" rtlCol="0" anchor="ctr"/>
          <a:lstStyle/>
          <a:p>
            <a:pPr marL="0" indent="0">
              <a:buNone/>
            </a:pPr>
            <a:r>
              <a:rPr lang="en-US" sz="1200" b="1" dirty="0">
                <a:solidFill>
                  <a:srgbClr val="0F172A"/>
                </a:solidFill>
              </a:rPr>
              <a:t>Silver</a:t>
            </a:r>
            <a:endParaRPr lang="en-US" sz="1200" dirty="0"/>
          </a:p>
        </p:txBody>
      </p:sp>
      <p:sp>
        <p:nvSpPr>
          <p:cNvPr id="53" name="Text 45"/>
          <p:cNvSpPr txBox="1"/>
          <p:nvPr/>
        </p:nvSpPr>
        <p:spPr>
          <a:xfrm>
            <a:off x="5623560" y="3666744"/>
            <a:ext cx="658368" cy="182880"/>
          </a:xfrm>
          <a:prstGeom prst="rect">
            <a:avLst/>
          </a:prstGeom>
          <a:noFill/>
          <a:ln/>
        </p:spPr>
        <p:txBody>
          <a:bodyPr wrap="square" lIns="0" tIns="0" rIns="0" bIns="0" rtlCol="0" anchor="ctr"/>
          <a:lstStyle/>
          <a:p>
            <a:pPr marL="0" indent="0">
              <a:buNone/>
            </a:pPr>
            <a:r>
              <a:rPr lang="en-US" sz="1000" dirty="0">
                <a:solidFill>
                  <a:srgbClr val="5B6B85"/>
                </a:solidFill>
              </a:rPr>
              <a:t>PostgreSQL</a:t>
            </a:r>
            <a:endParaRPr lang="en-US" sz="1000" dirty="0"/>
          </a:p>
        </p:txBody>
      </p:sp>
      <p:sp>
        <p:nvSpPr>
          <p:cNvPr id="54" name="Shape 46"/>
          <p:cNvSpPr/>
          <p:nvPr/>
        </p:nvSpPr>
        <p:spPr>
          <a:xfrm>
            <a:off x="6839712" y="3218688"/>
            <a:ext cx="0" cy="182880"/>
          </a:xfrm>
          <a:prstGeom prst="line">
            <a:avLst/>
          </a:prstGeom>
          <a:noFill/>
          <a:ln w="25400">
            <a:solidFill>
              <a:srgbClr val="1B2A49"/>
            </a:solidFill>
            <a:prstDash val="solid"/>
            <a:tailEnd type="triangle"/>
          </a:ln>
        </p:spPr>
        <p:txBody>
          <a:bodyPr/>
          <a:lstStyle/>
          <a:p>
            <a:endParaRPr lang="fr-FR"/>
          </a:p>
        </p:txBody>
      </p:sp>
      <p:sp>
        <p:nvSpPr>
          <p:cNvPr id="55" name="Gold"/>
          <p:cNvSpPr/>
          <p:nvPr/>
        </p:nvSpPr>
        <p:spPr>
          <a:xfrm>
            <a:off x="6647688" y="3429000"/>
            <a:ext cx="384048" cy="457200"/>
          </a:xfrm>
          <a:prstGeom prst="can">
            <a:avLst/>
          </a:prstGeom>
          <a:solidFill>
            <a:srgbClr val="D9A400"/>
          </a:solidFill>
          <a:ln w="6350">
            <a:solidFill>
              <a:srgbClr val="D9A400"/>
            </a:solidFill>
            <a:prstDash val="solid"/>
          </a:ln>
        </p:spPr>
        <p:txBody>
          <a:bodyPr/>
          <a:lstStyle/>
          <a:p>
            <a:endParaRPr lang="fr-FR"/>
          </a:p>
        </p:txBody>
      </p:sp>
      <p:sp>
        <p:nvSpPr>
          <p:cNvPr id="56" name="Text 48"/>
          <p:cNvSpPr txBox="1"/>
          <p:nvPr/>
        </p:nvSpPr>
        <p:spPr>
          <a:xfrm>
            <a:off x="7132320" y="3456432"/>
            <a:ext cx="658368" cy="201168"/>
          </a:xfrm>
          <a:prstGeom prst="rect">
            <a:avLst/>
          </a:prstGeom>
          <a:noFill/>
          <a:ln/>
        </p:spPr>
        <p:txBody>
          <a:bodyPr wrap="square" lIns="0" tIns="0" rIns="0" bIns="0" rtlCol="0" anchor="ctr"/>
          <a:lstStyle/>
          <a:p>
            <a:pPr marL="0" indent="0">
              <a:buNone/>
            </a:pPr>
            <a:r>
              <a:rPr lang="en-US" sz="1200" b="1" dirty="0">
                <a:solidFill>
                  <a:srgbClr val="0F172A"/>
                </a:solidFill>
              </a:rPr>
              <a:t>Gold</a:t>
            </a:r>
            <a:endParaRPr lang="en-US" sz="1200" dirty="0"/>
          </a:p>
        </p:txBody>
      </p:sp>
      <p:sp>
        <p:nvSpPr>
          <p:cNvPr id="57" name="Text 49"/>
          <p:cNvSpPr txBox="1"/>
          <p:nvPr/>
        </p:nvSpPr>
        <p:spPr>
          <a:xfrm>
            <a:off x="7132320" y="3666744"/>
            <a:ext cx="658368" cy="182880"/>
          </a:xfrm>
          <a:prstGeom prst="rect">
            <a:avLst/>
          </a:prstGeom>
          <a:noFill/>
          <a:ln/>
        </p:spPr>
        <p:txBody>
          <a:bodyPr wrap="square" lIns="0" tIns="0" rIns="0" bIns="0" rtlCol="0" anchor="ctr"/>
          <a:lstStyle/>
          <a:p>
            <a:pPr marL="0" indent="0">
              <a:buNone/>
            </a:pPr>
            <a:r>
              <a:rPr lang="en-US" sz="1000" dirty="0">
                <a:solidFill>
                  <a:srgbClr val="5B6B85"/>
                </a:solidFill>
              </a:rPr>
              <a:t>PostgreSQL</a:t>
            </a:r>
            <a:endParaRPr lang="en-US" sz="1000" dirty="0"/>
          </a:p>
        </p:txBody>
      </p:sp>
      <p:sp>
        <p:nvSpPr>
          <p:cNvPr id="58" name="Shape 50"/>
          <p:cNvSpPr/>
          <p:nvPr/>
        </p:nvSpPr>
        <p:spPr>
          <a:xfrm>
            <a:off x="457200" y="1920240"/>
            <a:ext cx="960120" cy="1280160"/>
          </a:xfrm>
          <a:prstGeom prst="roundRect">
            <a:avLst>
              <a:gd name="adj" fmla="val 7619"/>
            </a:avLst>
          </a:prstGeom>
          <a:solidFill>
            <a:srgbClr val="FFFFFF"/>
          </a:solidFill>
          <a:ln w="12700">
            <a:solidFill>
              <a:srgbClr val="8A94A6"/>
            </a:solidFill>
            <a:prstDash val="dash"/>
          </a:ln>
        </p:spPr>
        <p:txBody>
          <a:bodyPr/>
          <a:lstStyle/>
          <a:p>
            <a:endParaRPr lang="fr-FR"/>
          </a:p>
        </p:txBody>
      </p:sp>
      <p:sp>
        <p:nvSpPr>
          <p:cNvPr id="59" name="Shape 51"/>
          <p:cNvSpPr/>
          <p:nvPr/>
        </p:nvSpPr>
        <p:spPr>
          <a:xfrm>
            <a:off x="548640" y="2029968"/>
            <a:ext cx="365760" cy="365760"/>
          </a:xfrm>
          <a:prstGeom prst="ellipse">
            <a:avLst/>
          </a:prstGeom>
          <a:solidFill>
            <a:srgbClr val="5B6B85"/>
          </a:solidFill>
          <a:ln w="12700">
            <a:solidFill>
              <a:srgbClr val="5B6B85"/>
            </a:solidFill>
            <a:prstDash val="solid"/>
          </a:ln>
        </p:spPr>
        <p:txBody>
          <a:bodyPr/>
          <a:lstStyle/>
          <a:p>
            <a:endParaRPr lang="fr-FR"/>
          </a:p>
        </p:txBody>
      </p:sp>
      <p:pic>
        <p:nvPicPr>
          <p:cNvPr id="60" name="Image 6" descr="Presse"/>
          <p:cNvPicPr>
            <a:picLocks noChangeAspect="1"/>
          </p:cNvPicPr>
          <p:nvPr/>
        </p:nvPicPr>
        <p:blipFill>
          <a:blip r:embed="rId9"/>
          <a:stretch>
            <a:fillRect/>
          </a:stretch>
        </p:blipFill>
        <p:spPr>
          <a:xfrm>
            <a:off x="640080" y="2121408"/>
            <a:ext cx="182880" cy="182880"/>
          </a:xfrm>
          <a:prstGeom prst="rect">
            <a:avLst/>
          </a:prstGeom>
        </p:spPr>
      </p:pic>
      <p:sp>
        <p:nvSpPr>
          <p:cNvPr id="61" name="Text 52"/>
          <p:cNvSpPr txBox="1"/>
          <p:nvPr/>
        </p:nvSpPr>
        <p:spPr>
          <a:xfrm>
            <a:off x="548640" y="2487168"/>
            <a:ext cx="822960" cy="256032"/>
          </a:xfrm>
          <a:prstGeom prst="rect">
            <a:avLst/>
          </a:prstGeom>
          <a:noFill/>
          <a:ln/>
        </p:spPr>
        <p:txBody>
          <a:bodyPr wrap="square" lIns="0" tIns="0" rIns="0" bIns="0" rtlCol="0" anchor="ctr"/>
          <a:lstStyle/>
          <a:p>
            <a:pPr marL="0" indent="0">
              <a:buNone/>
            </a:pPr>
            <a:r>
              <a:rPr lang="en-US" sz="1400" b="1" dirty="0">
                <a:solidFill>
                  <a:srgbClr val="0F172A"/>
                </a:solidFill>
              </a:rPr>
              <a:t>Presse</a:t>
            </a:r>
            <a:endParaRPr lang="en-US" sz="1400" dirty="0"/>
          </a:p>
        </p:txBody>
      </p:sp>
      <p:sp>
        <p:nvSpPr>
          <p:cNvPr id="62" name="Text 53"/>
          <p:cNvSpPr txBox="1"/>
          <p:nvPr/>
        </p:nvSpPr>
        <p:spPr>
          <a:xfrm>
            <a:off x="548640" y="2761488"/>
            <a:ext cx="804672" cy="384048"/>
          </a:xfrm>
          <a:prstGeom prst="rect">
            <a:avLst/>
          </a:prstGeom>
          <a:noFill/>
          <a:ln/>
        </p:spPr>
        <p:txBody>
          <a:bodyPr wrap="square" lIns="0" tIns="0" rIns="0" bIns="0" rtlCol="0" anchor="t"/>
          <a:lstStyle/>
          <a:p>
            <a:pPr marL="0" indent="0">
              <a:buNone/>
            </a:pPr>
            <a:r>
              <a:rPr lang="en-US" sz="1100" dirty="0">
                <a:solidFill>
                  <a:srgbClr val="5B6B85"/>
                </a:solidFill>
              </a:rPr>
              <a:t>Journaux, flux RSS</a:t>
            </a:r>
            <a:endParaRPr lang="en-US" sz="1100" dirty="0"/>
          </a:p>
        </p:txBody>
      </p:sp>
      <p:sp>
        <p:nvSpPr>
          <p:cNvPr id="63" name="Shape 54"/>
          <p:cNvSpPr/>
          <p:nvPr/>
        </p:nvSpPr>
        <p:spPr>
          <a:xfrm>
            <a:off x="1435608" y="2560320"/>
            <a:ext cx="283464" cy="0"/>
          </a:xfrm>
          <a:prstGeom prst="line">
            <a:avLst/>
          </a:prstGeom>
          <a:noFill/>
          <a:ln w="25400">
            <a:solidFill>
              <a:srgbClr val="1B2A49"/>
            </a:solidFill>
            <a:prstDash val="solid"/>
            <a:tailEnd type="triangle"/>
          </a:ln>
        </p:spPr>
        <p:txBody>
          <a:bodyPr/>
          <a:lstStyle/>
          <a:p>
            <a:endParaRPr lang="fr-FR"/>
          </a:p>
        </p:txBody>
      </p:sp>
      <p:sp>
        <p:nvSpPr>
          <p:cNvPr id="64" name="Edition"/>
          <p:cNvSpPr/>
          <p:nvPr/>
        </p:nvSpPr>
        <p:spPr>
          <a:xfrm>
            <a:off x="9921240" y="1920240"/>
            <a:ext cx="1810512" cy="1280160"/>
          </a:xfrm>
          <a:prstGeom prst="roundRect">
            <a:avLst>
              <a:gd name="adj" fmla="val 5714"/>
            </a:avLst>
          </a:prstGeom>
          <a:solidFill>
            <a:srgbClr val="FFFFFF"/>
          </a:solidFill>
          <a:ln w="12700">
            <a:solidFill>
              <a:srgbClr val="8A94A6"/>
            </a:solidFill>
            <a:prstDash val="dash"/>
          </a:ln>
        </p:spPr>
        <p:txBody>
          <a:bodyPr/>
          <a:lstStyle/>
          <a:p>
            <a:endParaRPr lang="fr-FR"/>
          </a:p>
        </p:txBody>
      </p:sp>
      <p:sp>
        <p:nvSpPr>
          <p:cNvPr id="65" name="Shape 56"/>
          <p:cNvSpPr/>
          <p:nvPr/>
        </p:nvSpPr>
        <p:spPr>
          <a:xfrm>
            <a:off x="10030968" y="2029968"/>
            <a:ext cx="365760" cy="365760"/>
          </a:xfrm>
          <a:prstGeom prst="ellipse">
            <a:avLst/>
          </a:prstGeom>
          <a:solidFill>
            <a:srgbClr val="E8590C"/>
          </a:solidFill>
          <a:ln w="12700">
            <a:solidFill>
              <a:srgbClr val="E8590C"/>
            </a:solidFill>
            <a:prstDash val="solid"/>
          </a:ln>
        </p:spPr>
        <p:txBody>
          <a:bodyPr/>
          <a:lstStyle/>
          <a:p>
            <a:endParaRPr lang="fr-FR"/>
          </a:p>
        </p:txBody>
      </p:sp>
      <p:pic>
        <p:nvPicPr>
          <p:cNvPr id="66" name="Image 7" descr="Edition"/>
          <p:cNvPicPr>
            <a:picLocks noChangeAspect="1"/>
          </p:cNvPicPr>
          <p:nvPr/>
        </p:nvPicPr>
        <p:blipFill>
          <a:blip r:embed="rId8"/>
          <a:stretch>
            <a:fillRect/>
          </a:stretch>
        </p:blipFill>
        <p:spPr>
          <a:xfrm>
            <a:off x="10122408" y="2121408"/>
            <a:ext cx="182880" cy="182880"/>
          </a:xfrm>
          <a:prstGeom prst="rect">
            <a:avLst/>
          </a:prstGeom>
        </p:spPr>
      </p:pic>
      <p:sp>
        <p:nvSpPr>
          <p:cNvPr id="67" name="Text 57"/>
          <p:cNvSpPr txBox="1"/>
          <p:nvPr/>
        </p:nvSpPr>
        <p:spPr>
          <a:xfrm>
            <a:off x="10030968" y="2487168"/>
            <a:ext cx="1600200" cy="256032"/>
          </a:xfrm>
          <a:prstGeom prst="rect">
            <a:avLst/>
          </a:prstGeom>
          <a:noFill/>
          <a:ln/>
        </p:spPr>
        <p:txBody>
          <a:bodyPr wrap="square" lIns="0" tIns="0" rIns="0" bIns="0" rtlCol="0" anchor="ctr"/>
          <a:lstStyle/>
          <a:p>
            <a:pPr marL="0" indent="0">
              <a:buNone/>
            </a:pPr>
            <a:r>
              <a:rPr lang="en-US" sz="1400" b="1" dirty="0">
                <a:solidFill>
                  <a:srgbClr val="0F172A"/>
                </a:solidFill>
              </a:rPr>
              <a:t>Édition 7 h</a:t>
            </a:r>
            <a:endParaRPr lang="en-US" sz="1400" dirty="0"/>
          </a:p>
        </p:txBody>
      </p:sp>
      <p:sp>
        <p:nvSpPr>
          <p:cNvPr id="68" name="Text 58"/>
          <p:cNvSpPr txBox="1"/>
          <p:nvPr/>
        </p:nvSpPr>
        <p:spPr>
          <a:xfrm>
            <a:off x="10030968" y="2761488"/>
            <a:ext cx="1600200" cy="384048"/>
          </a:xfrm>
          <a:prstGeom prst="rect">
            <a:avLst/>
          </a:prstGeom>
          <a:noFill/>
          <a:ln/>
        </p:spPr>
        <p:txBody>
          <a:bodyPr wrap="square" lIns="0" tIns="0" rIns="0" bIns="0" rtlCol="0" anchor="t"/>
          <a:lstStyle/>
          <a:p>
            <a:pPr marL="0" indent="0">
              <a:buNone/>
            </a:pPr>
            <a:r>
              <a:rPr lang="en-US" sz="1100" dirty="0">
                <a:solidFill>
                  <a:srgbClr val="5B6B85"/>
                </a:solidFill>
              </a:rPr>
              <a:t>GitHub Pages, archivée par jour</a:t>
            </a:r>
            <a:endParaRPr lang="en-US" sz="1100" dirty="0"/>
          </a:p>
        </p:txBody>
      </p:sp>
      <p:sp>
        <p:nvSpPr>
          <p:cNvPr id="69" name="Shape 59"/>
          <p:cNvSpPr/>
          <p:nvPr/>
        </p:nvSpPr>
        <p:spPr>
          <a:xfrm>
            <a:off x="9354312" y="2560320"/>
            <a:ext cx="548640" cy="0"/>
          </a:xfrm>
          <a:prstGeom prst="line">
            <a:avLst/>
          </a:prstGeom>
          <a:noFill/>
          <a:ln w="25400">
            <a:solidFill>
              <a:srgbClr val="1B2A49"/>
            </a:solidFill>
            <a:prstDash val="solid"/>
            <a:tailEnd type="triangle"/>
          </a:ln>
        </p:spPr>
        <p:txBody>
          <a:bodyPr/>
          <a:lstStyle/>
          <a:p>
            <a:endParaRPr lang="fr-FR"/>
          </a:p>
        </p:txBody>
      </p:sp>
      <p:sp>
        <p:nvSpPr>
          <p:cNvPr id="70" name="Healthchecks.io"/>
          <p:cNvSpPr/>
          <p:nvPr/>
        </p:nvSpPr>
        <p:spPr>
          <a:xfrm>
            <a:off x="9921240" y="1188720"/>
            <a:ext cx="1810512" cy="548640"/>
          </a:xfrm>
          <a:prstGeom prst="roundRect">
            <a:avLst>
              <a:gd name="adj" fmla="val 13333"/>
            </a:avLst>
          </a:prstGeom>
          <a:solidFill>
            <a:srgbClr val="FFFFFF"/>
          </a:solidFill>
          <a:ln w="12700">
            <a:solidFill>
              <a:srgbClr val="8A94A6"/>
            </a:solidFill>
            <a:prstDash val="dash"/>
          </a:ln>
        </p:spPr>
        <p:txBody>
          <a:bodyPr/>
          <a:lstStyle/>
          <a:p>
            <a:endParaRPr lang="fr-FR"/>
          </a:p>
        </p:txBody>
      </p:sp>
      <p:sp>
        <p:nvSpPr>
          <p:cNvPr id="71" name="Shape 61"/>
          <p:cNvSpPr/>
          <p:nvPr/>
        </p:nvSpPr>
        <p:spPr>
          <a:xfrm>
            <a:off x="10012680" y="1307592"/>
            <a:ext cx="310896" cy="310896"/>
          </a:xfrm>
          <a:prstGeom prst="ellipse">
            <a:avLst/>
          </a:prstGeom>
          <a:solidFill>
            <a:srgbClr val="0F8B8D"/>
          </a:solidFill>
          <a:ln w="12700">
            <a:solidFill>
              <a:srgbClr val="0F8B8D"/>
            </a:solidFill>
            <a:prstDash val="solid"/>
          </a:ln>
        </p:spPr>
        <p:txBody>
          <a:bodyPr/>
          <a:lstStyle/>
          <a:p>
            <a:endParaRPr lang="fr-FR"/>
          </a:p>
        </p:txBody>
      </p:sp>
      <p:pic>
        <p:nvPicPr>
          <p:cNvPr id="72" name="Image 8" descr="Healthchecks.io"/>
          <p:cNvPicPr>
            <a:picLocks noChangeAspect="1"/>
          </p:cNvPicPr>
          <p:nvPr/>
        </p:nvPicPr>
        <p:blipFill>
          <a:blip r:embed="rId10"/>
          <a:stretch>
            <a:fillRect/>
          </a:stretch>
        </p:blipFill>
        <p:spPr>
          <a:xfrm>
            <a:off x="10090404" y="1385316"/>
            <a:ext cx="155448" cy="155448"/>
          </a:xfrm>
          <a:prstGeom prst="rect">
            <a:avLst/>
          </a:prstGeom>
        </p:spPr>
      </p:pic>
      <p:sp>
        <p:nvSpPr>
          <p:cNvPr id="73" name="Text 62"/>
          <p:cNvSpPr txBox="1"/>
          <p:nvPr/>
        </p:nvSpPr>
        <p:spPr>
          <a:xfrm>
            <a:off x="10424160" y="1211580"/>
            <a:ext cx="1261872" cy="228600"/>
          </a:xfrm>
          <a:prstGeom prst="rect">
            <a:avLst/>
          </a:prstGeom>
          <a:noFill/>
          <a:ln/>
        </p:spPr>
        <p:txBody>
          <a:bodyPr wrap="square" lIns="0" tIns="0" rIns="0" bIns="0" rtlCol="0" anchor="ctr"/>
          <a:lstStyle/>
          <a:p>
            <a:pPr marL="0" indent="0">
              <a:buNone/>
            </a:pPr>
            <a:r>
              <a:rPr lang="en-US" sz="1400" b="1" dirty="0">
                <a:solidFill>
                  <a:srgbClr val="0F172A"/>
                </a:solidFill>
              </a:rPr>
              <a:t>Healthchecks.io</a:t>
            </a:r>
            <a:endParaRPr lang="en-US" sz="1400" dirty="0"/>
          </a:p>
        </p:txBody>
      </p:sp>
      <p:sp>
        <p:nvSpPr>
          <p:cNvPr id="74" name="Text 63"/>
          <p:cNvSpPr txBox="1"/>
          <p:nvPr/>
        </p:nvSpPr>
        <p:spPr>
          <a:xfrm>
            <a:off x="10424160" y="1467612"/>
            <a:ext cx="1261872" cy="201168"/>
          </a:xfrm>
          <a:prstGeom prst="rect">
            <a:avLst/>
          </a:prstGeom>
          <a:noFill/>
          <a:ln/>
        </p:spPr>
        <p:txBody>
          <a:bodyPr wrap="square" lIns="0" tIns="0" rIns="0" bIns="0" rtlCol="0" anchor="ctr"/>
          <a:lstStyle/>
          <a:p>
            <a:pPr marL="0" indent="0">
              <a:buNone/>
            </a:pPr>
            <a:r>
              <a:rPr lang="en-US" sz="1000" dirty="0">
                <a:solidFill>
                  <a:srgbClr val="5B6B85"/>
                </a:solidFill>
              </a:rPr>
              <a:t>début, fin, échec</a:t>
            </a:r>
            <a:endParaRPr lang="en-US" sz="1000" dirty="0"/>
          </a:p>
        </p:txBody>
      </p:sp>
      <p:sp>
        <p:nvSpPr>
          <p:cNvPr id="75" name="Shape 64"/>
          <p:cNvSpPr/>
          <p:nvPr/>
        </p:nvSpPr>
        <p:spPr>
          <a:xfrm>
            <a:off x="8686800" y="1463040"/>
            <a:ext cx="0" cy="438912"/>
          </a:xfrm>
          <a:prstGeom prst="line">
            <a:avLst/>
          </a:prstGeom>
          <a:noFill/>
          <a:ln w="25400">
            <a:solidFill>
              <a:srgbClr val="0F8B8D"/>
            </a:solidFill>
            <a:prstDash val="solid"/>
          </a:ln>
        </p:spPr>
        <p:txBody>
          <a:bodyPr/>
          <a:lstStyle/>
          <a:p>
            <a:endParaRPr lang="fr-FR"/>
          </a:p>
        </p:txBody>
      </p:sp>
      <p:sp>
        <p:nvSpPr>
          <p:cNvPr id="76" name="Shape 65"/>
          <p:cNvSpPr/>
          <p:nvPr/>
        </p:nvSpPr>
        <p:spPr>
          <a:xfrm>
            <a:off x="8686800" y="1463040"/>
            <a:ext cx="1216152" cy="0"/>
          </a:xfrm>
          <a:prstGeom prst="line">
            <a:avLst/>
          </a:prstGeom>
          <a:noFill/>
          <a:ln w="25400">
            <a:solidFill>
              <a:srgbClr val="0F8B8D"/>
            </a:solidFill>
            <a:prstDash val="solid"/>
            <a:tailEnd type="triangle"/>
          </a:ln>
        </p:spPr>
        <p:txBody>
          <a:bodyPr/>
          <a:lstStyle/>
          <a:p>
            <a:endParaRPr lang="fr-FR"/>
          </a:p>
        </p:txBody>
      </p:sp>
      <p:sp>
        <p:nvSpPr>
          <p:cNvPr id="77" name="Text 66"/>
          <p:cNvSpPr txBox="1"/>
          <p:nvPr/>
        </p:nvSpPr>
        <p:spPr>
          <a:xfrm>
            <a:off x="8778240" y="1252728"/>
            <a:ext cx="868680" cy="182880"/>
          </a:xfrm>
          <a:prstGeom prst="rect">
            <a:avLst/>
          </a:prstGeom>
          <a:noFill/>
          <a:ln/>
        </p:spPr>
        <p:txBody>
          <a:bodyPr wrap="square" lIns="0" tIns="0" rIns="0" bIns="0" rtlCol="0" anchor="ctr"/>
          <a:lstStyle/>
          <a:p>
            <a:pPr marL="0" indent="0">
              <a:buNone/>
            </a:pPr>
            <a:r>
              <a:rPr lang="en-US" sz="1000" b="1" dirty="0">
                <a:solidFill>
                  <a:srgbClr val="0F8B8D"/>
                </a:solidFill>
              </a:rPr>
              <a:t>signal de fin</a:t>
            </a:r>
            <a:endParaRPr lang="en-US" sz="1000" dirty="0"/>
          </a:p>
        </p:txBody>
      </p:sp>
      <p:sp>
        <p:nvSpPr>
          <p:cNvPr id="78" name="UptimeRobot"/>
          <p:cNvSpPr/>
          <p:nvPr/>
        </p:nvSpPr>
        <p:spPr>
          <a:xfrm>
            <a:off x="9921240" y="3520440"/>
            <a:ext cx="1810512" cy="594360"/>
          </a:xfrm>
          <a:prstGeom prst="roundRect">
            <a:avLst>
              <a:gd name="adj" fmla="val 12308"/>
            </a:avLst>
          </a:prstGeom>
          <a:solidFill>
            <a:srgbClr val="FFFFFF"/>
          </a:solidFill>
          <a:ln w="12700">
            <a:solidFill>
              <a:srgbClr val="8A94A6"/>
            </a:solidFill>
            <a:prstDash val="dash"/>
          </a:ln>
        </p:spPr>
        <p:txBody>
          <a:bodyPr/>
          <a:lstStyle/>
          <a:p>
            <a:endParaRPr lang="fr-FR"/>
          </a:p>
        </p:txBody>
      </p:sp>
      <p:sp>
        <p:nvSpPr>
          <p:cNvPr id="79" name="Shape 68"/>
          <p:cNvSpPr/>
          <p:nvPr/>
        </p:nvSpPr>
        <p:spPr>
          <a:xfrm>
            <a:off x="10012680" y="3662172"/>
            <a:ext cx="310896" cy="310896"/>
          </a:xfrm>
          <a:prstGeom prst="ellipse">
            <a:avLst/>
          </a:prstGeom>
          <a:solidFill>
            <a:srgbClr val="0F8B8D"/>
          </a:solidFill>
          <a:ln w="12700">
            <a:solidFill>
              <a:srgbClr val="0F8B8D"/>
            </a:solidFill>
            <a:prstDash val="solid"/>
          </a:ln>
        </p:spPr>
        <p:txBody>
          <a:bodyPr/>
          <a:lstStyle/>
          <a:p>
            <a:endParaRPr lang="fr-FR"/>
          </a:p>
        </p:txBody>
      </p:sp>
      <p:pic>
        <p:nvPicPr>
          <p:cNvPr id="80" name="Image 9" descr="UptimeRobot"/>
          <p:cNvPicPr>
            <a:picLocks noChangeAspect="1"/>
          </p:cNvPicPr>
          <p:nvPr/>
        </p:nvPicPr>
        <p:blipFill>
          <a:blip r:embed="rId11"/>
          <a:stretch>
            <a:fillRect/>
          </a:stretch>
        </p:blipFill>
        <p:spPr>
          <a:xfrm>
            <a:off x="10090404" y="3739896"/>
            <a:ext cx="155448" cy="155448"/>
          </a:xfrm>
          <a:prstGeom prst="rect">
            <a:avLst/>
          </a:prstGeom>
        </p:spPr>
      </p:pic>
      <p:sp>
        <p:nvSpPr>
          <p:cNvPr id="81" name="Text 69"/>
          <p:cNvSpPr txBox="1"/>
          <p:nvPr/>
        </p:nvSpPr>
        <p:spPr>
          <a:xfrm>
            <a:off x="10424160" y="3566160"/>
            <a:ext cx="1261872" cy="228600"/>
          </a:xfrm>
          <a:prstGeom prst="rect">
            <a:avLst/>
          </a:prstGeom>
          <a:noFill/>
          <a:ln/>
        </p:spPr>
        <p:txBody>
          <a:bodyPr wrap="square" lIns="0" tIns="0" rIns="0" bIns="0" rtlCol="0" anchor="ctr"/>
          <a:lstStyle/>
          <a:p>
            <a:pPr marL="0" indent="0">
              <a:buNone/>
            </a:pPr>
            <a:r>
              <a:rPr lang="en-US" sz="1400" b="1" dirty="0">
                <a:solidFill>
                  <a:srgbClr val="0F172A"/>
                </a:solidFill>
              </a:rPr>
              <a:t>UptimeRobot</a:t>
            </a:r>
            <a:endParaRPr lang="en-US" sz="1400" dirty="0"/>
          </a:p>
        </p:txBody>
      </p:sp>
      <p:sp>
        <p:nvSpPr>
          <p:cNvPr id="82" name="Text 70"/>
          <p:cNvSpPr txBox="1"/>
          <p:nvPr/>
        </p:nvSpPr>
        <p:spPr>
          <a:xfrm>
            <a:off x="10424160" y="3822192"/>
            <a:ext cx="1261872" cy="201168"/>
          </a:xfrm>
          <a:prstGeom prst="rect">
            <a:avLst/>
          </a:prstGeom>
          <a:noFill/>
          <a:ln/>
        </p:spPr>
        <p:txBody>
          <a:bodyPr wrap="square" lIns="0" tIns="0" rIns="0" bIns="0" rtlCol="0" anchor="ctr"/>
          <a:lstStyle/>
          <a:p>
            <a:pPr marL="0" indent="0">
              <a:buNone/>
            </a:pPr>
            <a:r>
              <a:rPr lang="en-US" sz="1000" dirty="0">
                <a:solidFill>
                  <a:srgbClr val="5B6B85"/>
                </a:solidFill>
              </a:rPr>
              <a:t>health check</a:t>
            </a:r>
            <a:endParaRPr lang="en-US" sz="1000" dirty="0"/>
          </a:p>
        </p:txBody>
      </p:sp>
      <p:sp>
        <p:nvSpPr>
          <p:cNvPr id="83" name="Shape 71"/>
          <p:cNvSpPr/>
          <p:nvPr/>
        </p:nvSpPr>
        <p:spPr>
          <a:xfrm>
            <a:off x="10826496" y="3218688"/>
            <a:ext cx="0" cy="283464"/>
          </a:xfrm>
          <a:prstGeom prst="line">
            <a:avLst/>
          </a:prstGeom>
          <a:noFill/>
          <a:ln w="25400">
            <a:solidFill>
              <a:srgbClr val="0F8B8D"/>
            </a:solidFill>
            <a:prstDash val="solid"/>
            <a:headEnd type="triangle"/>
          </a:ln>
        </p:spPr>
        <p:txBody>
          <a:bodyPr/>
          <a:lstStyle/>
          <a:p>
            <a:endParaRPr lang="fr-FR"/>
          </a:p>
        </p:txBody>
      </p:sp>
      <p:sp>
        <p:nvSpPr>
          <p:cNvPr id="84" name="Discord"/>
          <p:cNvSpPr/>
          <p:nvPr/>
        </p:nvSpPr>
        <p:spPr>
          <a:xfrm>
            <a:off x="9921240" y="4777740"/>
            <a:ext cx="1810512" cy="548640"/>
          </a:xfrm>
          <a:prstGeom prst="roundRect">
            <a:avLst>
              <a:gd name="adj" fmla="val 13333"/>
            </a:avLst>
          </a:prstGeom>
          <a:solidFill>
            <a:srgbClr val="FFFFFF"/>
          </a:solidFill>
          <a:ln w="12700">
            <a:solidFill>
              <a:srgbClr val="8A94A6"/>
            </a:solidFill>
            <a:prstDash val="dash"/>
          </a:ln>
        </p:spPr>
        <p:txBody>
          <a:bodyPr/>
          <a:lstStyle/>
          <a:p>
            <a:endParaRPr lang="fr-FR"/>
          </a:p>
        </p:txBody>
      </p:sp>
      <p:sp>
        <p:nvSpPr>
          <p:cNvPr id="85" name="Shape 73"/>
          <p:cNvSpPr/>
          <p:nvPr/>
        </p:nvSpPr>
        <p:spPr>
          <a:xfrm>
            <a:off x="10012680" y="4896612"/>
            <a:ext cx="310896" cy="310896"/>
          </a:xfrm>
          <a:prstGeom prst="ellipse">
            <a:avLst/>
          </a:prstGeom>
          <a:solidFill>
            <a:srgbClr val="5865F2"/>
          </a:solidFill>
          <a:ln w="12700">
            <a:solidFill>
              <a:srgbClr val="5865F2"/>
            </a:solidFill>
            <a:prstDash val="solid"/>
          </a:ln>
        </p:spPr>
        <p:txBody>
          <a:bodyPr/>
          <a:lstStyle/>
          <a:p>
            <a:endParaRPr lang="fr-FR"/>
          </a:p>
        </p:txBody>
      </p:sp>
      <p:pic>
        <p:nvPicPr>
          <p:cNvPr id="86" name="Image 10" descr="Discord"/>
          <p:cNvPicPr>
            <a:picLocks noChangeAspect="1"/>
          </p:cNvPicPr>
          <p:nvPr/>
        </p:nvPicPr>
        <p:blipFill>
          <a:blip r:embed="rId12"/>
          <a:stretch>
            <a:fillRect/>
          </a:stretch>
        </p:blipFill>
        <p:spPr>
          <a:xfrm>
            <a:off x="10090404" y="4974336"/>
            <a:ext cx="155448" cy="155448"/>
          </a:xfrm>
          <a:prstGeom prst="rect">
            <a:avLst/>
          </a:prstGeom>
        </p:spPr>
      </p:pic>
      <p:sp>
        <p:nvSpPr>
          <p:cNvPr id="87" name="Text 74"/>
          <p:cNvSpPr txBox="1"/>
          <p:nvPr/>
        </p:nvSpPr>
        <p:spPr>
          <a:xfrm>
            <a:off x="10424160" y="4800600"/>
            <a:ext cx="1261872" cy="228600"/>
          </a:xfrm>
          <a:prstGeom prst="rect">
            <a:avLst/>
          </a:prstGeom>
          <a:noFill/>
          <a:ln/>
        </p:spPr>
        <p:txBody>
          <a:bodyPr wrap="square" lIns="0" tIns="0" rIns="0" bIns="0" rtlCol="0" anchor="ctr"/>
          <a:lstStyle/>
          <a:p>
            <a:pPr marL="0" indent="0">
              <a:buNone/>
            </a:pPr>
            <a:r>
              <a:rPr lang="en-US" sz="1400" b="1" dirty="0">
                <a:solidFill>
                  <a:srgbClr val="0F172A"/>
                </a:solidFill>
              </a:rPr>
              <a:t>Discord</a:t>
            </a:r>
            <a:endParaRPr lang="en-US" sz="1400" dirty="0"/>
          </a:p>
        </p:txBody>
      </p:sp>
      <p:sp>
        <p:nvSpPr>
          <p:cNvPr id="88" name="Text 75"/>
          <p:cNvSpPr txBox="1"/>
          <p:nvPr/>
        </p:nvSpPr>
        <p:spPr>
          <a:xfrm>
            <a:off x="10424160" y="5056632"/>
            <a:ext cx="1261872" cy="201168"/>
          </a:xfrm>
          <a:prstGeom prst="rect">
            <a:avLst/>
          </a:prstGeom>
          <a:noFill/>
          <a:ln/>
        </p:spPr>
        <p:txBody>
          <a:bodyPr wrap="square" lIns="0" tIns="0" rIns="0" bIns="0" rtlCol="0" anchor="ctr"/>
          <a:lstStyle/>
          <a:p>
            <a:pPr marL="0" indent="0">
              <a:buNone/>
            </a:pPr>
            <a:r>
              <a:rPr lang="en-US" sz="1000" dirty="0">
                <a:solidFill>
                  <a:srgbClr val="5B6B85"/>
                </a:solidFill>
              </a:rPr>
              <a:t>alertes directes</a:t>
            </a:r>
            <a:endParaRPr lang="en-US" sz="1000" dirty="0"/>
          </a:p>
        </p:txBody>
      </p:sp>
      <p:sp>
        <p:nvSpPr>
          <p:cNvPr id="89" name="Shape 76"/>
          <p:cNvSpPr/>
          <p:nvPr/>
        </p:nvSpPr>
        <p:spPr>
          <a:xfrm>
            <a:off x="10826496" y="4133088"/>
            <a:ext cx="0" cy="621792"/>
          </a:xfrm>
          <a:prstGeom prst="line">
            <a:avLst/>
          </a:prstGeom>
          <a:noFill/>
          <a:ln w="25400">
            <a:solidFill>
              <a:srgbClr val="E8590C"/>
            </a:solidFill>
            <a:prstDash val="solid"/>
            <a:tailEnd type="triangle"/>
          </a:ln>
        </p:spPr>
        <p:txBody>
          <a:bodyPr/>
          <a:lstStyle/>
          <a:p>
            <a:endParaRPr lang="fr-FR"/>
          </a:p>
        </p:txBody>
      </p:sp>
      <p:sp>
        <p:nvSpPr>
          <p:cNvPr id="90" name="Shape 77"/>
          <p:cNvSpPr/>
          <p:nvPr/>
        </p:nvSpPr>
        <p:spPr>
          <a:xfrm>
            <a:off x="11731752" y="1463040"/>
            <a:ext cx="173736" cy="0"/>
          </a:xfrm>
          <a:prstGeom prst="line">
            <a:avLst/>
          </a:prstGeom>
          <a:noFill/>
          <a:ln w="25400">
            <a:solidFill>
              <a:srgbClr val="E8590C"/>
            </a:solidFill>
            <a:prstDash val="solid"/>
          </a:ln>
        </p:spPr>
        <p:txBody>
          <a:bodyPr/>
          <a:lstStyle/>
          <a:p>
            <a:endParaRPr lang="fr-FR"/>
          </a:p>
        </p:txBody>
      </p:sp>
      <p:sp>
        <p:nvSpPr>
          <p:cNvPr id="91" name="Shape 78"/>
          <p:cNvSpPr/>
          <p:nvPr/>
        </p:nvSpPr>
        <p:spPr>
          <a:xfrm>
            <a:off x="11905488" y="1463040"/>
            <a:ext cx="0" cy="3589020"/>
          </a:xfrm>
          <a:prstGeom prst="line">
            <a:avLst/>
          </a:prstGeom>
          <a:noFill/>
          <a:ln w="25400">
            <a:solidFill>
              <a:srgbClr val="E8590C"/>
            </a:solidFill>
            <a:prstDash val="solid"/>
          </a:ln>
        </p:spPr>
        <p:txBody>
          <a:bodyPr/>
          <a:lstStyle/>
          <a:p>
            <a:endParaRPr lang="fr-FR"/>
          </a:p>
        </p:txBody>
      </p:sp>
      <p:sp>
        <p:nvSpPr>
          <p:cNvPr id="92" name="Shape 79"/>
          <p:cNvSpPr/>
          <p:nvPr/>
        </p:nvSpPr>
        <p:spPr>
          <a:xfrm>
            <a:off x="11750040" y="5052060"/>
            <a:ext cx="155448" cy="0"/>
          </a:xfrm>
          <a:prstGeom prst="line">
            <a:avLst/>
          </a:prstGeom>
          <a:noFill/>
          <a:ln w="25400">
            <a:solidFill>
              <a:srgbClr val="E8590C"/>
            </a:solidFill>
            <a:prstDash val="solid"/>
            <a:headEnd type="triangle"/>
          </a:ln>
        </p:spPr>
        <p:txBody>
          <a:bodyPr/>
          <a:lstStyle/>
          <a:p>
            <a:endParaRPr lang="fr-FR"/>
          </a:p>
        </p:txBody>
      </p:sp>
      <p:sp>
        <p:nvSpPr>
          <p:cNvPr id="93" name="Logs JSON"/>
          <p:cNvSpPr/>
          <p:nvPr/>
        </p:nvSpPr>
        <p:spPr>
          <a:xfrm>
            <a:off x="1828800" y="4617720"/>
            <a:ext cx="1554480" cy="868680"/>
          </a:xfrm>
          <a:prstGeom prst="roundRect">
            <a:avLst>
              <a:gd name="adj" fmla="val 8421"/>
            </a:avLst>
          </a:prstGeom>
          <a:solidFill>
            <a:srgbClr val="E7F4F4"/>
          </a:solidFill>
          <a:ln w="12700">
            <a:solidFill>
              <a:srgbClr val="0F8B8D"/>
            </a:solidFill>
            <a:prstDash val="solid"/>
          </a:ln>
        </p:spPr>
        <p:txBody>
          <a:bodyPr/>
          <a:lstStyle/>
          <a:p>
            <a:endParaRPr lang="fr-FR"/>
          </a:p>
        </p:txBody>
      </p:sp>
      <p:sp>
        <p:nvSpPr>
          <p:cNvPr id="94" name="Shape 81"/>
          <p:cNvSpPr/>
          <p:nvPr/>
        </p:nvSpPr>
        <p:spPr>
          <a:xfrm>
            <a:off x="1938528" y="4709160"/>
            <a:ext cx="329184" cy="329184"/>
          </a:xfrm>
          <a:prstGeom prst="ellipse">
            <a:avLst/>
          </a:prstGeom>
          <a:solidFill>
            <a:srgbClr val="0F8B8D"/>
          </a:solidFill>
          <a:ln w="12700">
            <a:solidFill>
              <a:srgbClr val="0F8B8D"/>
            </a:solidFill>
            <a:prstDash val="solid"/>
          </a:ln>
        </p:spPr>
        <p:txBody>
          <a:bodyPr/>
          <a:lstStyle/>
          <a:p>
            <a:endParaRPr lang="fr-FR"/>
          </a:p>
        </p:txBody>
      </p:sp>
      <p:pic>
        <p:nvPicPr>
          <p:cNvPr id="95" name="Image 11" descr="Logs JSON"/>
          <p:cNvPicPr>
            <a:picLocks noChangeAspect="1"/>
          </p:cNvPicPr>
          <p:nvPr/>
        </p:nvPicPr>
        <p:blipFill>
          <a:blip r:embed="rId13"/>
          <a:stretch>
            <a:fillRect/>
          </a:stretch>
        </p:blipFill>
        <p:spPr>
          <a:xfrm>
            <a:off x="2020824" y="4791456"/>
            <a:ext cx="164592" cy="164592"/>
          </a:xfrm>
          <a:prstGeom prst="rect">
            <a:avLst/>
          </a:prstGeom>
        </p:spPr>
      </p:pic>
      <p:sp>
        <p:nvSpPr>
          <p:cNvPr id="96" name="Text 82"/>
          <p:cNvSpPr txBox="1"/>
          <p:nvPr/>
        </p:nvSpPr>
        <p:spPr>
          <a:xfrm>
            <a:off x="1920240" y="5074920"/>
            <a:ext cx="1417320" cy="228600"/>
          </a:xfrm>
          <a:prstGeom prst="rect">
            <a:avLst/>
          </a:prstGeom>
          <a:noFill/>
          <a:ln/>
        </p:spPr>
        <p:txBody>
          <a:bodyPr wrap="square" lIns="0" tIns="0" rIns="0" bIns="0" rtlCol="0" anchor="ctr"/>
          <a:lstStyle/>
          <a:p>
            <a:pPr marL="0" indent="0">
              <a:buNone/>
            </a:pPr>
            <a:r>
              <a:rPr lang="en-US" sz="1400" b="1" dirty="0">
                <a:solidFill>
                  <a:srgbClr val="0F172A"/>
                </a:solidFill>
              </a:rPr>
              <a:t>Logs JSON</a:t>
            </a:r>
            <a:endParaRPr lang="en-US" sz="1400" dirty="0"/>
          </a:p>
        </p:txBody>
      </p:sp>
      <p:sp>
        <p:nvSpPr>
          <p:cNvPr id="97" name="Text 83"/>
          <p:cNvSpPr txBox="1"/>
          <p:nvPr/>
        </p:nvSpPr>
        <p:spPr>
          <a:xfrm>
            <a:off x="1920240" y="5294376"/>
            <a:ext cx="1417320" cy="182880"/>
          </a:xfrm>
          <a:prstGeom prst="rect">
            <a:avLst/>
          </a:prstGeom>
          <a:noFill/>
          <a:ln/>
        </p:spPr>
        <p:txBody>
          <a:bodyPr wrap="square" lIns="0" tIns="0" rIns="0" bIns="0" rtlCol="0" anchor="ctr"/>
          <a:lstStyle/>
          <a:p>
            <a:pPr marL="0" indent="0">
              <a:buNone/>
            </a:pPr>
            <a:r>
              <a:rPr lang="en-US" sz="1100" dirty="0">
                <a:solidFill>
                  <a:srgbClr val="5B6B85"/>
                </a:solidFill>
              </a:rPr>
              <a:t>Journal de chaque run</a:t>
            </a:r>
            <a:endParaRPr lang="en-US" sz="1100" dirty="0"/>
          </a:p>
        </p:txBody>
      </p:sp>
      <p:sp>
        <p:nvSpPr>
          <p:cNvPr id="98" name="Grafana"/>
          <p:cNvSpPr/>
          <p:nvPr/>
        </p:nvSpPr>
        <p:spPr>
          <a:xfrm>
            <a:off x="3657600" y="4617720"/>
            <a:ext cx="1554480" cy="868680"/>
          </a:xfrm>
          <a:prstGeom prst="roundRect">
            <a:avLst>
              <a:gd name="adj" fmla="val 8421"/>
            </a:avLst>
          </a:prstGeom>
          <a:solidFill>
            <a:srgbClr val="E7F4F4"/>
          </a:solidFill>
          <a:ln w="12700">
            <a:solidFill>
              <a:srgbClr val="0F8B8D"/>
            </a:solidFill>
            <a:prstDash val="solid"/>
          </a:ln>
        </p:spPr>
        <p:txBody>
          <a:bodyPr/>
          <a:lstStyle/>
          <a:p>
            <a:endParaRPr lang="fr-FR"/>
          </a:p>
        </p:txBody>
      </p:sp>
      <p:sp>
        <p:nvSpPr>
          <p:cNvPr id="99" name="Shape 85"/>
          <p:cNvSpPr/>
          <p:nvPr/>
        </p:nvSpPr>
        <p:spPr>
          <a:xfrm>
            <a:off x="3767328" y="4709160"/>
            <a:ext cx="329184" cy="329184"/>
          </a:xfrm>
          <a:prstGeom prst="ellipse">
            <a:avLst/>
          </a:prstGeom>
          <a:solidFill>
            <a:srgbClr val="0F8B8D"/>
          </a:solidFill>
          <a:ln w="12700">
            <a:solidFill>
              <a:srgbClr val="0F8B8D"/>
            </a:solidFill>
            <a:prstDash val="solid"/>
          </a:ln>
        </p:spPr>
        <p:txBody>
          <a:bodyPr/>
          <a:lstStyle/>
          <a:p>
            <a:endParaRPr lang="fr-FR"/>
          </a:p>
        </p:txBody>
      </p:sp>
      <p:pic>
        <p:nvPicPr>
          <p:cNvPr id="100" name="Image 12" descr="Grafana"/>
          <p:cNvPicPr>
            <a:picLocks noChangeAspect="1"/>
          </p:cNvPicPr>
          <p:nvPr/>
        </p:nvPicPr>
        <p:blipFill>
          <a:blip r:embed="rId14"/>
          <a:stretch>
            <a:fillRect/>
          </a:stretch>
        </p:blipFill>
        <p:spPr>
          <a:xfrm>
            <a:off x="3849624" y="4791456"/>
            <a:ext cx="164592" cy="164592"/>
          </a:xfrm>
          <a:prstGeom prst="rect">
            <a:avLst/>
          </a:prstGeom>
        </p:spPr>
      </p:pic>
      <p:sp>
        <p:nvSpPr>
          <p:cNvPr id="101" name="Text 86"/>
          <p:cNvSpPr txBox="1"/>
          <p:nvPr/>
        </p:nvSpPr>
        <p:spPr>
          <a:xfrm>
            <a:off x="3749040" y="5074920"/>
            <a:ext cx="1417320" cy="228600"/>
          </a:xfrm>
          <a:prstGeom prst="rect">
            <a:avLst/>
          </a:prstGeom>
          <a:noFill/>
          <a:ln/>
        </p:spPr>
        <p:txBody>
          <a:bodyPr wrap="square" lIns="0" tIns="0" rIns="0" bIns="0" rtlCol="0" anchor="ctr"/>
          <a:lstStyle/>
          <a:p>
            <a:pPr marL="0" indent="0">
              <a:buNone/>
            </a:pPr>
            <a:r>
              <a:rPr lang="en-US" sz="1400" b="1" dirty="0">
                <a:solidFill>
                  <a:srgbClr val="0F172A"/>
                </a:solidFill>
              </a:rPr>
              <a:t>Grafana</a:t>
            </a:r>
            <a:endParaRPr lang="en-US" sz="1400" dirty="0"/>
          </a:p>
        </p:txBody>
      </p:sp>
      <p:sp>
        <p:nvSpPr>
          <p:cNvPr id="102" name="Text 87"/>
          <p:cNvSpPr txBox="1"/>
          <p:nvPr/>
        </p:nvSpPr>
        <p:spPr>
          <a:xfrm>
            <a:off x="3749040" y="5294376"/>
            <a:ext cx="1417320" cy="182880"/>
          </a:xfrm>
          <a:prstGeom prst="rect">
            <a:avLst/>
          </a:prstGeom>
          <a:noFill/>
          <a:ln/>
        </p:spPr>
        <p:txBody>
          <a:bodyPr wrap="square" lIns="0" tIns="0" rIns="0" bIns="0" rtlCol="0" anchor="ctr"/>
          <a:lstStyle/>
          <a:p>
            <a:pPr marL="0" indent="0">
              <a:buNone/>
            </a:pPr>
            <a:r>
              <a:rPr lang="en-US" sz="1100" dirty="0">
                <a:solidFill>
                  <a:srgbClr val="5B6B85"/>
                </a:solidFill>
              </a:rPr>
              <a:t>Tableau de bord</a:t>
            </a:r>
            <a:endParaRPr lang="en-US" sz="1100" dirty="0"/>
          </a:p>
        </p:txBody>
      </p:sp>
      <p:sp>
        <p:nvSpPr>
          <p:cNvPr id="103" name="Prometheus"/>
          <p:cNvSpPr/>
          <p:nvPr/>
        </p:nvSpPr>
        <p:spPr>
          <a:xfrm>
            <a:off x="5486400" y="4617720"/>
            <a:ext cx="1554480" cy="868680"/>
          </a:xfrm>
          <a:prstGeom prst="roundRect">
            <a:avLst>
              <a:gd name="adj" fmla="val 8421"/>
            </a:avLst>
          </a:prstGeom>
          <a:solidFill>
            <a:srgbClr val="E7F4F4"/>
          </a:solidFill>
          <a:ln w="12700">
            <a:solidFill>
              <a:srgbClr val="0F8B8D"/>
            </a:solidFill>
            <a:prstDash val="solid"/>
          </a:ln>
        </p:spPr>
        <p:txBody>
          <a:bodyPr/>
          <a:lstStyle/>
          <a:p>
            <a:endParaRPr lang="fr-FR"/>
          </a:p>
        </p:txBody>
      </p:sp>
      <p:sp>
        <p:nvSpPr>
          <p:cNvPr id="104" name="Shape 89"/>
          <p:cNvSpPr/>
          <p:nvPr/>
        </p:nvSpPr>
        <p:spPr>
          <a:xfrm>
            <a:off x="5596128" y="4709160"/>
            <a:ext cx="329184" cy="329184"/>
          </a:xfrm>
          <a:prstGeom prst="ellipse">
            <a:avLst/>
          </a:prstGeom>
          <a:solidFill>
            <a:srgbClr val="0F8B8D"/>
          </a:solidFill>
          <a:ln w="12700">
            <a:solidFill>
              <a:srgbClr val="0F8B8D"/>
            </a:solidFill>
            <a:prstDash val="solid"/>
          </a:ln>
        </p:spPr>
        <p:txBody>
          <a:bodyPr/>
          <a:lstStyle/>
          <a:p>
            <a:endParaRPr lang="fr-FR"/>
          </a:p>
        </p:txBody>
      </p:sp>
      <p:pic>
        <p:nvPicPr>
          <p:cNvPr id="105" name="Image 13" descr="Prometheus"/>
          <p:cNvPicPr>
            <a:picLocks noChangeAspect="1"/>
          </p:cNvPicPr>
          <p:nvPr/>
        </p:nvPicPr>
        <p:blipFill>
          <a:blip r:embed="rId15"/>
          <a:stretch>
            <a:fillRect/>
          </a:stretch>
        </p:blipFill>
        <p:spPr>
          <a:xfrm>
            <a:off x="5678424" y="4791456"/>
            <a:ext cx="164592" cy="164592"/>
          </a:xfrm>
          <a:prstGeom prst="rect">
            <a:avLst/>
          </a:prstGeom>
        </p:spPr>
      </p:pic>
      <p:sp>
        <p:nvSpPr>
          <p:cNvPr id="106" name="Text 90"/>
          <p:cNvSpPr txBox="1"/>
          <p:nvPr/>
        </p:nvSpPr>
        <p:spPr>
          <a:xfrm>
            <a:off x="5577840" y="5074920"/>
            <a:ext cx="1417320" cy="228600"/>
          </a:xfrm>
          <a:prstGeom prst="rect">
            <a:avLst/>
          </a:prstGeom>
          <a:noFill/>
          <a:ln/>
        </p:spPr>
        <p:txBody>
          <a:bodyPr wrap="square" lIns="0" tIns="0" rIns="0" bIns="0" rtlCol="0" anchor="ctr"/>
          <a:lstStyle/>
          <a:p>
            <a:pPr marL="0" indent="0">
              <a:buNone/>
            </a:pPr>
            <a:r>
              <a:rPr lang="en-US" sz="1400" b="1" dirty="0">
                <a:solidFill>
                  <a:srgbClr val="0F172A"/>
                </a:solidFill>
              </a:rPr>
              <a:t>Prometheus</a:t>
            </a:r>
            <a:endParaRPr lang="en-US" sz="1400" dirty="0"/>
          </a:p>
        </p:txBody>
      </p:sp>
      <p:sp>
        <p:nvSpPr>
          <p:cNvPr id="107" name="Text 91"/>
          <p:cNvSpPr txBox="1"/>
          <p:nvPr/>
        </p:nvSpPr>
        <p:spPr>
          <a:xfrm>
            <a:off x="5577840" y="5294376"/>
            <a:ext cx="1417320" cy="182880"/>
          </a:xfrm>
          <a:prstGeom prst="rect">
            <a:avLst/>
          </a:prstGeom>
          <a:noFill/>
          <a:ln/>
        </p:spPr>
        <p:txBody>
          <a:bodyPr wrap="square" lIns="0" tIns="0" rIns="0" bIns="0" rtlCol="0" anchor="ctr"/>
          <a:lstStyle/>
          <a:p>
            <a:pPr marL="0" indent="0">
              <a:buNone/>
            </a:pPr>
            <a:r>
              <a:rPr lang="en-US" sz="1100" dirty="0">
                <a:solidFill>
                  <a:srgbClr val="5B6B85"/>
                </a:solidFill>
              </a:rPr>
              <a:t>Métriques, règles</a:t>
            </a:r>
            <a:endParaRPr lang="en-US" sz="1100" dirty="0"/>
          </a:p>
        </p:txBody>
      </p:sp>
      <p:sp>
        <p:nvSpPr>
          <p:cNvPr id="108" name="Alertmanager"/>
          <p:cNvSpPr/>
          <p:nvPr/>
        </p:nvSpPr>
        <p:spPr>
          <a:xfrm>
            <a:off x="7680960" y="4617720"/>
            <a:ext cx="1645920" cy="868680"/>
          </a:xfrm>
          <a:prstGeom prst="roundRect">
            <a:avLst>
              <a:gd name="adj" fmla="val 8421"/>
            </a:avLst>
          </a:prstGeom>
          <a:solidFill>
            <a:srgbClr val="FDEEE4"/>
          </a:solidFill>
          <a:ln w="12700">
            <a:solidFill>
              <a:srgbClr val="E8590C"/>
            </a:solidFill>
            <a:prstDash val="solid"/>
          </a:ln>
        </p:spPr>
        <p:txBody>
          <a:bodyPr/>
          <a:lstStyle/>
          <a:p>
            <a:endParaRPr lang="fr-FR"/>
          </a:p>
        </p:txBody>
      </p:sp>
      <p:sp>
        <p:nvSpPr>
          <p:cNvPr id="109" name="Shape 93"/>
          <p:cNvSpPr/>
          <p:nvPr/>
        </p:nvSpPr>
        <p:spPr>
          <a:xfrm>
            <a:off x="7790688" y="4709160"/>
            <a:ext cx="329184" cy="329184"/>
          </a:xfrm>
          <a:prstGeom prst="ellipse">
            <a:avLst/>
          </a:prstGeom>
          <a:solidFill>
            <a:srgbClr val="E8590C"/>
          </a:solidFill>
          <a:ln w="12700">
            <a:solidFill>
              <a:srgbClr val="E8590C"/>
            </a:solidFill>
            <a:prstDash val="solid"/>
          </a:ln>
        </p:spPr>
        <p:txBody>
          <a:bodyPr/>
          <a:lstStyle/>
          <a:p>
            <a:endParaRPr lang="fr-FR"/>
          </a:p>
        </p:txBody>
      </p:sp>
      <p:pic>
        <p:nvPicPr>
          <p:cNvPr id="110" name="Image 14" descr="Alertmanager"/>
          <p:cNvPicPr>
            <a:picLocks noChangeAspect="1"/>
          </p:cNvPicPr>
          <p:nvPr/>
        </p:nvPicPr>
        <p:blipFill>
          <a:blip r:embed="rId16"/>
          <a:stretch>
            <a:fillRect/>
          </a:stretch>
        </p:blipFill>
        <p:spPr>
          <a:xfrm>
            <a:off x="7872984" y="4791456"/>
            <a:ext cx="164592" cy="164592"/>
          </a:xfrm>
          <a:prstGeom prst="rect">
            <a:avLst/>
          </a:prstGeom>
        </p:spPr>
      </p:pic>
      <p:sp>
        <p:nvSpPr>
          <p:cNvPr id="111" name="Text 94"/>
          <p:cNvSpPr txBox="1"/>
          <p:nvPr/>
        </p:nvSpPr>
        <p:spPr>
          <a:xfrm>
            <a:off x="7772400" y="5074920"/>
            <a:ext cx="1508760" cy="228600"/>
          </a:xfrm>
          <a:prstGeom prst="rect">
            <a:avLst/>
          </a:prstGeom>
          <a:noFill/>
          <a:ln/>
        </p:spPr>
        <p:txBody>
          <a:bodyPr wrap="square" lIns="0" tIns="0" rIns="0" bIns="0" rtlCol="0" anchor="ctr"/>
          <a:lstStyle/>
          <a:p>
            <a:pPr marL="0" indent="0">
              <a:buNone/>
            </a:pPr>
            <a:r>
              <a:rPr lang="en-US" sz="1400" b="1" dirty="0">
                <a:solidFill>
                  <a:srgbClr val="0F172A"/>
                </a:solidFill>
              </a:rPr>
              <a:t>Alertmanager</a:t>
            </a:r>
            <a:endParaRPr lang="en-US" sz="1400" dirty="0"/>
          </a:p>
        </p:txBody>
      </p:sp>
      <p:sp>
        <p:nvSpPr>
          <p:cNvPr id="112" name="Text 95"/>
          <p:cNvSpPr txBox="1"/>
          <p:nvPr/>
        </p:nvSpPr>
        <p:spPr>
          <a:xfrm>
            <a:off x="7772400" y="5294376"/>
            <a:ext cx="1508760" cy="182880"/>
          </a:xfrm>
          <a:prstGeom prst="rect">
            <a:avLst/>
          </a:prstGeom>
          <a:noFill/>
          <a:ln/>
        </p:spPr>
        <p:txBody>
          <a:bodyPr wrap="square" lIns="0" tIns="0" rIns="0" bIns="0" rtlCol="0" anchor="ctr"/>
          <a:lstStyle/>
          <a:p>
            <a:pPr marL="0" indent="0">
              <a:buNone/>
            </a:pPr>
            <a:r>
              <a:rPr lang="en-US" sz="1100" dirty="0">
                <a:solidFill>
                  <a:srgbClr val="5B6B85"/>
                </a:solidFill>
              </a:rPr>
              <a:t>Alertes de Prometheus</a:t>
            </a:r>
            <a:endParaRPr lang="en-US" sz="1100" dirty="0"/>
          </a:p>
        </p:txBody>
      </p:sp>
      <p:sp>
        <p:nvSpPr>
          <p:cNvPr id="113" name="Shape 96"/>
          <p:cNvSpPr/>
          <p:nvPr/>
        </p:nvSpPr>
        <p:spPr>
          <a:xfrm>
            <a:off x="2606040" y="4041648"/>
            <a:ext cx="0" cy="557784"/>
          </a:xfrm>
          <a:prstGeom prst="line">
            <a:avLst/>
          </a:prstGeom>
          <a:noFill/>
          <a:ln w="25400">
            <a:solidFill>
              <a:srgbClr val="0F8B8D"/>
            </a:solidFill>
            <a:prstDash val="solid"/>
            <a:tailEnd type="triangle"/>
          </a:ln>
        </p:spPr>
        <p:txBody>
          <a:bodyPr/>
          <a:lstStyle/>
          <a:p>
            <a:endParaRPr lang="fr-FR"/>
          </a:p>
        </p:txBody>
      </p:sp>
      <p:sp>
        <p:nvSpPr>
          <p:cNvPr id="114" name="Shape 97"/>
          <p:cNvSpPr/>
          <p:nvPr/>
        </p:nvSpPr>
        <p:spPr>
          <a:xfrm>
            <a:off x="6263640" y="4041648"/>
            <a:ext cx="0" cy="557784"/>
          </a:xfrm>
          <a:prstGeom prst="line">
            <a:avLst/>
          </a:prstGeom>
          <a:noFill/>
          <a:ln w="25400">
            <a:solidFill>
              <a:srgbClr val="0F8B8D"/>
            </a:solidFill>
            <a:prstDash val="solid"/>
            <a:tailEnd type="triangle"/>
          </a:ln>
        </p:spPr>
        <p:txBody>
          <a:bodyPr/>
          <a:lstStyle/>
          <a:p>
            <a:endParaRPr lang="fr-FR"/>
          </a:p>
        </p:txBody>
      </p:sp>
      <p:sp>
        <p:nvSpPr>
          <p:cNvPr id="115" name="Text 98"/>
          <p:cNvSpPr txBox="1"/>
          <p:nvPr/>
        </p:nvSpPr>
        <p:spPr>
          <a:xfrm>
            <a:off x="3017520" y="4187952"/>
            <a:ext cx="2834640" cy="201168"/>
          </a:xfrm>
          <a:prstGeom prst="rect">
            <a:avLst/>
          </a:prstGeom>
          <a:noFill/>
          <a:ln/>
        </p:spPr>
        <p:txBody>
          <a:bodyPr wrap="square" lIns="0" tIns="0" rIns="0" bIns="0" rtlCol="0" anchor="ctr"/>
          <a:lstStyle/>
          <a:p>
            <a:pPr marL="0" indent="0" algn="ctr">
              <a:buNone/>
            </a:pPr>
            <a:r>
              <a:rPr lang="en-US" sz="1100" b="1" dirty="0">
                <a:solidFill>
                  <a:srgbClr val="0F8B8D"/>
                </a:solidFill>
              </a:rPr>
              <a:t>toutes les étapes</a:t>
            </a:r>
            <a:endParaRPr lang="en-US" sz="1100" dirty="0"/>
          </a:p>
        </p:txBody>
      </p:sp>
      <p:sp>
        <p:nvSpPr>
          <p:cNvPr id="116" name="Shape 99"/>
          <p:cNvSpPr/>
          <p:nvPr/>
        </p:nvSpPr>
        <p:spPr>
          <a:xfrm>
            <a:off x="5230368" y="5052060"/>
            <a:ext cx="237744" cy="0"/>
          </a:xfrm>
          <a:prstGeom prst="line">
            <a:avLst/>
          </a:prstGeom>
          <a:noFill/>
          <a:ln w="25400">
            <a:solidFill>
              <a:srgbClr val="0F8B8D"/>
            </a:solidFill>
            <a:prstDash val="solid"/>
            <a:headEnd type="triangle"/>
          </a:ln>
        </p:spPr>
        <p:txBody>
          <a:bodyPr/>
          <a:lstStyle/>
          <a:p>
            <a:endParaRPr lang="fr-FR"/>
          </a:p>
        </p:txBody>
      </p:sp>
      <p:sp>
        <p:nvSpPr>
          <p:cNvPr id="117" name="Shape 100"/>
          <p:cNvSpPr/>
          <p:nvPr/>
        </p:nvSpPr>
        <p:spPr>
          <a:xfrm>
            <a:off x="7068312" y="5052060"/>
            <a:ext cx="585216" cy="0"/>
          </a:xfrm>
          <a:prstGeom prst="line">
            <a:avLst/>
          </a:prstGeom>
          <a:noFill/>
          <a:ln w="25400">
            <a:solidFill>
              <a:srgbClr val="E8590C"/>
            </a:solidFill>
            <a:prstDash val="solid"/>
            <a:tailEnd type="triangle"/>
          </a:ln>
        </p:spPr>
        <p:txBody>
          <a:bodyPr/>
          <a:lstStyle/>
          <a:p>
            <a:endParaRPr lang="fr-FR"/>
          </a:p>
        </p:txBody>
      </p:sp>
      <p:sp>
        <p:nvSpPr>
          <p:cNvPr id="118" name="Shape 101"/>
          <p:cNvSpPr/>
          <p:nvPr/>
        </p:nvSpPr>
        <p:spPr>
          <a:xfrm>
            <a:off x="9354312" y="5052060"/>
            <a:ext cx="548640" cy="0"/>
          </a:xfrm>
          <a:prstGeom prst="line">
            <a:avLst/>
          </a:prstGeom>
          <a:noFill/>
          <a:ln w="25400">
            <a:solidFill>
              <a:srgbClr val="E8590C"/>
            </a:solidFill>
            <a:prstDash val="solid"/>
            <a:tailEnd type="triangle"/>
          </a:ln>
        </p:spPr>
        <p:txBody>
          <a:bodyPr/>
          <a:lstStyle/>
          <a:p>
            <a:endParaRPr lang="fr-FR"/>
          </a:p>
        </p:txBody>
      </p:sp>
      <p:sp>
        <p:nvSpPr>
          <p:cNvPr id="119" name="Text 102"/>
          <p:cNvSpPr txBox="1"/>
          <p:nvPr/>
        </p:nvSpPr>
        <p:spPr>
          <a:xfrm>
            <a:off x="457200" y="4754880"/>
            <a:ext cx="1005840" cy="256032"/>
          </a:xfrm>
          <a:prstGeom prst="rect">
            <a:avLst/>
          </a:prstGeom>
          <a:noFill/>
          <a:ln/>
        </p:spPr>
        <p:txBody>
          <a:bodyPr wrap="square" lIns="0" tIns="0" rIns="0" bIns="0" rtlCol="0" anchor="ctr"/>
          <a:lstStyle/>
          <a:p>
            <a:pPr marL="0" indent="0">
              <a:buNone/>
            </a:pPr>
            <a:r>
              <a:rPr lang="en-US" sz="1400" b="1" dirty="0">
                <a:solidFill>
                  <a:srgbClr val="0F8B8D"/>
                </a:solidFill>
              </a:rPr>
              <a:t>Surveiller</a:t>
            </a:r>
            <a:endParaRPr lang="en-US" sz="1400" dirty="0"/>
          </a:p>
        </p:txBody>
      </p:sp>
      <p:sp>
        <p:nvSpPr>
          <p:cNvPr id="120" name="Text 103"/>
          <p:cNvSpPr txBox="1"/>
          <p:nvPr/>
        </p:nvSpPr>
        <p:spPr>
          <a:xfrm>
            <a:off x="457200" y="5010912"/>
            <a:ext cx="1005840" cy="411480"/>
          </a:xfrm>
          <a:prstGeom prst="rect">
            <a:avLst/>
          </a:prstGeom>
          <a:noFill/>
          <a:ln/>
        </p:spPr>
        <p:txBody>
          <a:bodyPr wrap="square" lIns="0" tIns="0" rIns="0" bIns="0" rtlCol="0" anchor="t"/>
          <a:lstStyle/>
          <a:p>
            <a:pPr marL="0" indent="0">
              <a:buNone/>
            </a:pPr>
            <a:r>
              <a:rPr lang="en-US" sz="1100" dirty="0">
                <a:solidFill>
                  <a:srgbClr val="5B6B85"/>
                </a:solidFill>
              </a:rPr>
              <a:t>indépendant de Prefect</a:t>
            </a:r>
            <a:endParaRPr lang="en-US" sz="1100" dirty="0"/>
          </a:p>
        </p:txBody>
      </p:sp>
      <p:sp>
        <p:nvSpPr>
          <p:cNvPr id="121" name="Text 104"/>
          <p:cNvSpPr txBox="1"/>
          <p:nvPr/>
        </p:nvSpPr>
        <p:spPr>
          <a:xfrm>
            <a:off x="6035040" y="5669280"/>
            <a:ext cx="5696712" cy="201168"/>
          </a:xfrm>
          <a:prstGeom prst="rect">
            <a:avLst/>
          </a:prstGeom>
          <a:noFill/>
          <a:ln/>
        </p:spPr>
        <p:txBody>
          <a:bodyPr wrap="square" lIns="0" tIns="0" rIns="0" bIns="0" rtlCol="0" anchor="ctr"/>
          <a:lstStyle/>
          <a:p>
            <a:pPr marL="0" indent="0" algn="r">
              <a:buNone/>
            </a:pPr>
            <a:r>
              <a:rPr lang="en-US" sz="1100" dirty="0">
                <a:solidFill>
                  <a:srgbClr val="5B6B85"/>
                </a:solidFill>
              </a:rPr>
              <a:t>Cadres gris pointillés : services externes</a:t>
            </a:r>
            <a:endParaRPr lang="en-US" sz="1100" dirty="0"/>
          </a:p>
        </p:txBody>
      </p:sp>
      <p:sp>
        <p:nvSpPr>
          <p:cNvPr id="122" name="Socle CI/CD"/>
          <p:cNvSpPr/>
          <p:nvPr/>
        </p:nvSpPr>
        <p:spPr>
          <a:xfrm>
            <a:off x="457200" y="5943600"/>
            <a:ext cx="11274552" cy="457200"/>
          </a:xfrm>
          <a:prstGeom prst="roundRect">
            <a:avLst>
              <a:gd name="adj" fmla="val 16000"/>
            </a:avLst>
          </a:prstGeom>
          <a:solidFill>
            <a:srgbClr val="1B2A49"/>
          </a:solidFill>
          <a:ln w="12700">
            <a:solidFill>
              <a:srgbClr val="1B2A49"/>
            </a:solidFill>
            <a:prstDash val="solid"/>
          </a:ln>
        </p:spPr>
        <p:txBody>
          <a:bodyPr/>
          <a:lstStyle/>
          <a:p>
            <a:endParaRPr lang="fr-FR"/>
          </a:p>
        </p:txBody>
      </p:sp>
      <p:sp>
        <p:nvSpPr>
          <p:cNvPr id="123" name="Shape 106"/>
          <p:cNvSpPr/>
          <p:nvPr/>
        </p:nvSpPr>
        <p:spPr>
          <a:xfrm>
            <a:off x="594360" y="6007608"/>
            <a:ext cx="329184" cy="329184"/>
          </a:xfrm>
          <a:prstGeom prst="ellipse">
            <a:avLst/>
          </a:prstGeom>
          <a:solidFill>
            <a:srgbClr val="2B3D63"/>
          </a:solidFill>
          <a:ln w="12700">
            <a:solidFill>
              <a:srgbClr val="2B3D63"/>
            </a:solidFill>
            <a:prstDash val="solid"/>
          </a:ln>
        </p:spPr>
        <p:txBody>
          <a:bodyPr/>
          <a:lstStyle/>
          <a:p>
            <a:endParaRPr lang="fr-FR"/>
          </a:p>
        </p:txBody>
      </p:sp>
      <p:pic>
        <p:nvPicPr>
          <p:cNvPr id="124" name="Image 15" descr="GitHub"/>
          <p:cNvPicPr>
            <a:picLocks noChangeAspect="1"/>
          </p:cNvPicPr>
          <p:nvPr/>
        </p:nvPicPr>
        <p:blipFill>
          <a:blip r:embed="rId17"/>
          <a:stretch>
            <a:fillRect/>
          </a:stretch>
        </p:blipFill>
        <p:spPr>
          <a:xfrm>
            <a:off x="676656" y="6089904"/>
            <a:ext cx="164592" cy="164592"/>
          </a:xfrm>
          <a:prstGeom prst="rect">
            <a:avLst/>
          </a:prstGeom>
        </p:spPr>
      </p:pic>
      <p:sp>
        <p:nvSpPr>
          <p:cNvPr id="125" name="Text 107"/>
          <p:cNvSpPr txBox="1"/>
          <p:nvPr/>
        </p:nvSpPr>
        <p:spPr>
          <a:xfrm>
            <a:off x="1051560" y="5943600"/>
            <a:ext cx="10515600" cy="457200"/>
          </a:xfrm>
          <a:prstGeom prst="rect">
            <a:avLst/>
          </a:prstGeom>
          <a:noFill/>
          <a:ln/>
        </p:spPr>
        <p:txBody>
          <a:bodyPr wrap="square" lIns="0" tIns="0" rIns="0" bIns="0" rtlCol="0" anchor="ctr"/>
          <a:lstStyle/>
          <a:p>
            <a:pPr marL="0" indent="0">
              <a:buNone/>
            </a:pPr>
            <a:r>
              <a:rPr lang="en-US" sz="1400" b="1" dirty="0">
                <a:solidFill>
                  <a:srgbClr val="FFFFFF"/>
                </a:solidFill>
              </a:rPr>
              <a:t>GitHub : </a:t>
            </a:r>
            <a:r>
              <a:rPr lang="en-US" sz="1400" dirty="0">
                <a:solidFill>
                  <a:srgbClr val="FFFFFF"/>
                </a:solidFill>
              </a:rPr>
              <a:t>dépôt + CI (tests à chaque commit)    ·    </a:t>
            </a:r>
            <a:r>
              <a:rPr lang="en-US" sz="1400" b="1" dirty="0">
                <a:solidFill>
                  <a:srgbClr val="FFFFFF"/>
                </a:solidFill>
              </a:rPr>
              <a:t>Terraform </a:t>
            </a:r>
            <a:r>
              <a:rPr lang="en-US" sz="1400" dirty="0">
                <a:solidFill>
                  <a:srgbClr val="FFFFFF"/>
                </a:solidFill>
              </a:rPr>
              <a:t>au TD 9</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334</Words>
  <Application>Microsoft Office PowerPoint</Application>
  <PresentationFormat>Grand écran</PresentationFormat>
  <Paragraphs>52</Paragraphs>
  <Slides>1</Slides>
  <Notes>1</Notes>
  <HiddenSlides>0</HiddenSlides>
  <MMClips>0</MMClips>
  <ScaleCrop>false</ScaleCrop>
  <HeadingPairs>
    <vt:vector size="4" baseType="variant">
      <vt:variant>
        <vt:lpstr>Thème</vt:lpstr>
      </vt:variant>
      <vt:variant>
        <vt:i4>1</vt:i4>
      </vt:variant>
      <vt:variant>
        <vt:lpstr>Titres des diapositives</vt:lpstr>
      </vt:variant>
      <vt:variant>
        <vt:i4>1</vt:i4>
      </vt:variant>
    </vt:vector>
  </HeadingPairs>
  <TitlesOfParts>
    <vt:vector size="2" baseType="lpstr">
      <vt:lpstr>Office Theme</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gazette - workflow complet</dc:title>
  <dc:subject>PptxGenJS Presentation</dc:subject>
  <dc:creator>PptxGenJS</dc:creator>
  <cp:lastModifiedBy>Jason mampouya</cp:lastModifiedBy>
  <cp:revision>5</cp:revision>
  <dcterms:created xsi:type="dcterms:W3CDTF">2026-10-20T14:08:31Z</dcterms:created>
  <dcterms:modified xsi:type="dcterms:W3CDTF">2026-10-20T14:13:42Z</dcterms:modified>
</cp:coreProperties>
</file>